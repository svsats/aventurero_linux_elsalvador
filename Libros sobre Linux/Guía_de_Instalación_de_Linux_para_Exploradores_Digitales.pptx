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¡Hola, exploradores digitales! Hoy comenzamos una aventura que va a cambiar la forma en que ven sus computadoras. Vamos a instalar Linux, el sistema operativo que les da el control total. Este no es solo un tutorial, es una guía para que ustedes, jóvenes de El Salvador, transformen su PC en una herramienta de creación libre y poderosa. El software libre es como una receta de cocina que todos pueden ver, modificar y mejorar. Eso significa que ustedes pueden aprender cómo funciona por dentro. Pregúntenles a sus compañeros, ¿quién de ustedes ha querido alguna vez saber cómo funciona realmente su computadora? Ahora que ya encendimos el motor de la curiosidad, veamos qué herramientas necesitamos para esta gran misión.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empezar nuestra aventura, necesitamos reunir tres herramientas clave, como si fuéramos a construir algo increíble. Primero, la Imagen ISO, que es el corazón de Linux, el plano de construcción que descargamos de internet. Segundo, una Memoria USB de al menos 8 GB, que será nuestro vehículo de instalación. ¡Ojo! Se borra todo lo que tiene, así que guarden sus archivos antes. Y tercero, la Llave Mágica, que es un programa como BalenaEtcher o Rufus que convierte esa USB en un disco de arranque. Esto es como cargar el plano de construcción en el vehículo. ¿Quién me puede decir por qué es importante descargar la ISO solo de la página oficial? Ahora que tenemos nuestras herramientas listas, vamos a usarlas para arrancar la computadora.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 tenemos nuestra USB lista, así que el siguiente paso es darle la orden a la computadora de que arranque desde ella. Esto es como decirle al carro que no use el motor de siempre, sino uno nuevo. Conectamos la USB y reiniciamos, presionando una tecla especial como F2 o F12 para entrar al menú de arranque. Una vez dentro, elegimos la USB y entramos al Modo Live. Este modo es genial porque nos permite probar Linux, navegar y ver si nos gusta sin tocar nada de lo que ya tenemos instalado. Es como probarse unos zapatos antes de comprarlos. ¿Quién de ustedes ha usado alguna vez un menú de arranque? Si ya nos gustó cómo se siente Linux en Modo Live, el siguiente paso es prepararnos para la instalación permanente.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instalar, tenemos que hablar de la opción más segura: el Dual Boot. Esto significa que no tienen que elegir entre Windows y Linux; pueden tener los dos en la misma computadora. Es como tener dos mundos en un solo lugar. Para que esto funcione, necesitamos hacer espacio para Linux. Deben asegurarse de tener al menos 50 GB de espacio libre, lo que llamamos espacio No Asignado. Lo más importante es que si siguen los pasos con cuidado, sus archivos de Windows estarán totalmente seguros. Pregúntenles a sus compañeros, ¿quién de ustedes quiere conservar Windows para algunos programas y usar Linux para programar? Con la seguridad de nuestros archivos garantizada, ya podemos iniciar el instalador.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que estamos en el Modo Live y ya decidimos que queremos instalar, buscamos el icono de "Instalar" y hacemos clic para comenzar. Este es el momento de personalizar nuestro entorno de trabajo. Lo primero es elegir el idioma, y claro, seleccionamos Español para que todo sea fácil de entender. Luego, configuramos el teclado. Esto es crucial para que la letra "ñ" y los acentos funcionen perfectamente desde el principio. No queremos escribir sin tildes, ¿verdad? Es como poner las reglas del juego antes de empezar a jugar. ¿Quién me puede decir por qué es importante configurar el teclado correctamente al inicio? Una vez que tenemos el idioma y el teclado listos, el instalador nos preguntará dónde estamos.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que ya elegimos el idioma, vamos a decirle a Linux dónde estamos en el mundo. Este paso es sencillo pero súper importante para que tu computadora se sienta como en casa, aquí en El Salvador. Seleccionar San Salvador en el mapa asegura que tu reloj y calendario estén siempre perfectos. Esto es clave para que tus archivos y las actualizaciones del sistema funcionen sin problemas de tiempo. Piensen en esto como ponerle la dirección correcta a una carta para que llegue justo a tiempo. ¿Quién me dice por qué es importante que la hora de la computadora sea exacta? Ahora que ya le dimos una ubicación, vamos al paso más delicado de toda la instalación.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 hicimos la parte fácil, ahora viene el momento crucial, la decisión más importante de la instalación. Recuerden que no queremos borrar Windows, queremos que convivan como buenos vecinos. Por eso, vamos a elegir la opción "Instalar junto a Windows". Esta opción es como un constructor inteligente que divide el terreno de tu disco duro sin dañar lo que ya existe. El instalador se encarga de hacer el espacio necesario para Linux de forma segura. ¡Nunca elijan "Borrar disco" a menos que estén seguros de que quieren eliminar absolutamente todo! ¿Qué pasaría si elegimos "Borrar disco" por error? Una vez que confirmemos esta opción, el instalador nos pedirá crear nuestra identidad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 le dimos espacio a Linux, ahora vamos a crear al dueño de ese espacio: ¡ustedes! Aquí van a crear su usuario y una contraseña que yo llamo de súper-poderes. El nombre de usuario será su identidad en el mundo Linux, el nombre que aparecerá cuando inicien sesión. Pero la contraseña es la llave maestra, la necesitarán para instalar programas o hacer cualquier cambio importante. En Linux, ustedes tienen el control total, y esa contraseña es lo que protege ese control. ¿Por qué creen que es tan importante tener una contraseña fuerte y secreta? Con el usuario y la contraseña listos, ya podemos dejar que Linux trabaje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 hicimos todo el trabajo difícil, ahora toca relajarse y dejar que la magia suceda. En este momento, Linux se está acomodando en su nuevo hogar, copiando miles de archivos a tu disco duro. Mientras esperamos, pueden ver la presentación que muestra todas las cosas geniales que podrán hacer con su nuevo sistema operativo. Piensen que están viendo cómo se construye su nueva herramienta de trabajo y creatividad. ¡Ya casi son expertos en sistemas operativos! ¿Qué creen que es lo más emocionante de tener un sistema operativo nuevo? Cuando la barra de progreso llegue al final, solo nos quedará un paso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¡Felicidades, exploradores digitales, misión cumplida! Hemos llegado al final de la instalación. Lo único que falta es retirar la memoria USB cuando el sistema lo pida y reiniciar la computadora. A partir de ahora, cada vez que enciendan su PC, verán un menú que les preguntará: ¿Quieres usar Windows o quieres usar Linux? Esto se llama Dual Boot, y les permite elegir su aventura digital cada día. ¡Bienvenidos a la comunidad global de Software Libre! ¿Qué es lo primero que van a hacer con su nuevo sistema operativo Linux?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71500" y="1456265"/>
            <a:ext cx="954639" cy="298252"/>
          </a:xfrm>
          <a:prstGeom prst="rect">
            <a:avLst/>
          </a:prstGeom>
          <a:solidFill>
            <a:srgbClr val="FD79A8"/>
          </a:solidFill>
          <a:ln/>
        </p:spPr>
      </p:sp>
      <p:sp>
        <p:nvSpPr>
          <p:cNvPr id="5" name="Text 1"/>
          <p:cNvSpPr/>
          <p:nvPr/>
        </p:nvSpPr>
        <p:spPr>
          <a:xfrm>
            <a:off x="571500" y="1456265"/>
            <a:ext cx="954639" cy="298252"/>
          </a:xfrm>
          <a:prstGeom prst="rect">
            <a:avLst/>
          </a:prstGeom>
          <a:noFill/>
          <a:ln/>
        </p:spPr>
        <p:txBody>
          <a:bodyPr wrap="square" lIns="170053" tIns="85090" rIns="170053" bIns="85090" rtlCol="0" anchor="t">
            <a:spAutoFit/>
          </a:bodyPr>
          <a:lstStyle/>
          <a:p>
            <a:pPr algn="l" indent="0" marL="0">
              <a:lnSpc>
                <a:spcPts val="1100"/>
              </a:lnSpc>
              <a:buNone/>
            </a:pPr>
            <a:r>
              <a:rPr lang="en-US" sz="784" b="1" dirty="0">
                <a:solidFill>
                  <a:srgbClr val="FFFFFF"/>
                </a:solidFill>
              </a:rPr>
              <a:t>CAPÍTULO 3</a:t>
            </a:r>
            <a:endParaRPr lang="en-US" sz="784" dirty="0"/>
          </a:p>
        </p:txBody>
      </p:sp>
      <p:sp>
        <p:nvSpPr>
          <p:cNvPr id="6" name="Text 2"/>
          <p:cNvSpPr/>
          <p:nvPr/>
        </p:nvSpPr>
        <p:spPr>
          <a:xfrm>
            <a:off x="571500" y="1897391"/>
            <a:ext cx="4914900" cy="1005818"/>
          </a:xfrm>
          <a:prstGeom prst="rect">
            <a:avLst/>
          </a:prstGeom>
          <a:noFill/>
          <a:ln/>
        </p:spPr>
        <p:txBody>
          <a:bodyPr wrap="square" lIns="0" tIns="0" rIns="0" bIns="0" rtlCol="0" anchor="t">
            <a:spAutoFit/>
          </a:bodyPr>
          <a:lstStyle/>
          <a:p>
            <a:pPr algn="l" indent="0" marL="0">
              <a:lnSpc>
                <a:spcPts val="4000"/>
              </a:lnSpc>
              <a:buNone/>
            </a:pPr>
            <a:r>
              <a:rPr lang="en-US" sz="3294" b="1" dirty="0">
                <a:solidFill>
                  <a:srgbClr val="6C5CE7"/>
                </a:solidFill>
              </a:rPr>
              <a:t>¡Tu Aventura Comienza Aquí!</a:t>
            </a:r>
            <a:endParaRPr lang="en-US" sz="3294" dirty="0"/>
          </a:p>
        </p:txBody>
      </p:sp>
      <p:sp>
        <p:nvSpPr>
          <p:cNvPr id="7" name="Text 3"/>
          <p:cNvSpPr/>
          <p:nvPr/>
        </p:nvSpPr>
        <p:spPr>
          <a:xfrm>
            <a:off x="571500" y="3117521"/>
            <a:ext cx="4914900" cy="31253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00B894"/>
                </a:solidFill>
              </a:rPr>
              <a:t>Instalando Linux Paso a Paso</a:t>
            </a:r>
            <a:endParaRPr lang="en-US" sz="1602" dirty="0"/>
          </a:p>
        </p:txBody>
      </p:sp>
      <p:sp>
        <p:nvSpPr>
          <p:cNvPr id="8" name="Text 4"/>
          <p:cNvSpPr/>
          <p:nvPr/>
        </p:nvSpPr>
        <p:spPr>
          <a:xfrm>
            <a:off x="571500" y="3715810"/>
            <a:ext cx="3571875" cy="6858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2D3436"/>
                </a:solidFill>
              </a:rPr>
              <a:t>Aprende a transformar tu computadora en una herramienta de creación libre. Guía práctica diseñada para estudiantes de El Salvador.</a:t>
            </a:r>
            <a:endParaRPr lang="en-US" sz="1050" dirty="0"/>
          </a:p>
        </p:txBody>
      </p:sp>
      <p:pic>
        <p:nvPicPr>
          <p:cNvPr id="9" name="Image 1" descr="preencoded.png">    </p:cNvPr>
          <p:cNvPicPr>
            <a:picLocks noChangeAspect="1"/>
          </p:cNvPicPr>
          <p:nvPr/>
        </p:nvPicPr>
        <p:blipFill>
          <a:blip r:embed="rId2"/>
          <a:stretch>
            <a:fillRect/>
          </a:stretch>
        </p:blipFill>
        <p:spPr>
          <a:xfrm>
            <a:off x="5718600" y="964406"/>
            <a:ext cx="2621673" cy="32146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6C5CE7"/>
                </a:solidFill>
              </a:rPr>
              <a:t>Reúne tus herramientas antes de empezar</a:t>
            </a:r>
            <a:endParaRPr lang="en-US" sz="2436" dirty="0"/>
          </a:p>
        </p:txBody>
      </p:sp>
      <p:sp>
        <p:nvSpPr>
          <p:cNvPr id="5" name="Shape 1"/>
          <p:cNvSpPr/>
          <p:nvPr/>
        </p:nvSpPr>
        <p:spPr>
          <a:xfrm>
            <a:off x="571500" y="1537692"/>
            <a:ext cx="428625" cy="428625"/>
          </a:xfrm>
          <a:prstGeom prst="rect">
            <a:avLst/>
          </a:prstGeom>
          <a:solidFill>
            <a:srgbClr val="00B894"/>
          </a:solidFill>
          <a:ln/>
        </p:spPr>
      </p:sp>
      <p:pic>
        <p:nvPicPr>
          <p:cNvPr id="6" name="Image 1" descr="preencoded.png">    </p:cNvPr>
          <p:cNvPicPr>
            <a:picLocks noChangeAspect="1"/>
          </p:cNvPicPr>
          <p:nvPr/>
        </p:nvPicPr>
        <p:blipFill>
          <a:blip r:embed="rId2"/>
          <a:stretch>
            <a:fillRect/>
          </a:stretch>
        </p:blipFill>
        <p:spPr>
          <a:xfrm>
            <a:off x="700088" y="1666280"/>
            <a:ext cx="171450" cy="171450"/>
          </a:xfrm>
          <a:prstGeom prst="rect">
            <a:avLst/>
          </a:prstGeom>
        </p:spPr>
      </p:pic>
      <p:sp>
        <p:nvSpPr>
          <p:cNvPr id="7" name="Text 2"/>
          <p:cNvSpPr/>
          <p:nvPr/>
        </p:nvSpPr>
        <p:spPr>
          <a:xfrm>
            <a:off x="1143000" y="1537692"/>
            <a:ext cx="3357563"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2D3436"/>
                </a:solidFill>
              </a:rPr>
              <a:t>Imagen ISO</a:t>
            </a:r>
            <a:endParaRPr lang="en-US" sz="1193" dirty="0"/>
          </a:p>
        </p:txBody>
      </p:sp>
      <p:sp>
        <p:nvSpPr>
          <p:cNvPr id="8" name="Text 3"/>
          <p:cNvSpPr/>
          <p:nvPr/>
        </p:nvSpPr>
        <p:spPr>
          <a:xfrm>
            <a:off x="1143000" y="1843088"/>
            <a:ext cx="3357563" cy="360034"/>
          </a:xfrm>
          <a:prstGeom prst="rect">
            <a:avLst/>
          </a:prstGeom>
          <a:noFill/>
          <a:ln/>
        </p:spPr>
        <p:txBody>
          <a:bodyPr wrap="square" lIns="0" tIns="0" rIns="0" bIns="0" rtlCol="0" anchor="t">
            <a:spAutoFit/>
          </a:bodyPr>
          <a:lstStyle/>
          <a:p>
            <a:pPr algn="l" indent="0" marL="0">
              <a:lnSpc>
                <a:spcPts val="1400"/>
              </a:lnSpc>
              <a:buNone/>
            </a:pPr>
            <a:r>
              <a:rPr lang="en-US" sz="942" dirty="0">
                <a:solidFill>
                  <a:srgbClr val="2D3436"/>
                </a:solidFill>
              </a:rPr>
              <a:t>Descarga el "corazón" de tu sistema operativo desde la web oficial de la distribución elegida.</a:t>
            </a:r>
            <a:endParaRPr lang="en-US" sz="942" dirty="0"/>
          </a:p>
        </p:txBody>
      </p:sp>
      <p:sp>
        <p:nvSpPr>
          <p:cNvPr id="9" name="Shape 4"/>
          <p:cNvSpPr/>
          <p:nvPr/>
        </p:nvSpPr>
        <p:spPr>
          <a:xfrm>
            <a:off x="571500" y="2417434"/>
            <a:ext cx="428625" cy="428625"/>
          </a:xfrm>
          <a:prstGeom prst="rect">
            <a:avLst/>
          </a:prstGeom>
          <a:solidFill>
            <a:srgbClr val="00B894"/>
          </a:solidFill>
          <a:ln/>
        </p:spPr>
      </p:sp>
      <p:pic>
        <p:nvPicPr>
          <p:cNvPr id="10" name="Image 2" descr="preencoded.png">    </p:cNvPr>
          <p:cNvPicPr>
            <a:picLocks noChangeAspect="1"/>
          </p:cNvPicPr>
          <p:nvPr/>
        </p:nvPicPr>
        <p:blipFill>
          <a:blip r:embed="rId3"/>
          <a:stretch>
            <a:fillRect/>
          </a:stretch>
        </p:blipFill>
        <p:spPr>
          <a:xfrm>
            <a:off x="721519" y="2546021"/>
            <a:ext cx="128588" cy="171450"/>
          </a:xfrm>
          <a:prstGeom prst="rect">
            <a:avLst/>
          </a:prstGeom>
        </p:spPr>
      </p:pic>
      <p:sp>
        <p:nvSpPr>
          <p:cNvPr id="11" name="Text 5"/>
          <p:cNvSpPr/>
          <p:nvPr/>
        </p:nvSpPr>
        <p:spPr>
          <a:xfrm>
            <a:off x="1143000" y="2417434"/>
            <a:ext cx="3357563"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2D3436"/>
                </a:solidFill>
              </a:rPr>
              <a:t>Memoria USB</a:t>
            </a:r>
            <a:endParaRPr lang="en-US" sz="1193" dirty="0"/>
          </a:p>
        </p:txBody>
      </p:sp>
      <p:sp>
        <p:nvSpPr>
          <p:cNvPr id="12" name="Text 6"/>
          <p:cNvSpPr/>
          <p:nvPr/>
        </p:nvSpPr>
        <p:spPr>
          <a:xfrm>
            <a:off x="1143000" y="2722829"/>
            <a:ext cx="3357563" cy="360034"/>
          </a:xfrm>
          <a:prstGeom prst="rect">
            <a:avLst/>
          </a:prstGeom>
          <a:noFill/>
          <a:ln/>
        </p:spPr>
        <p:txBody>
          <a:bodyPr wrap="square" lIns="0" tIns="0" rIns="0" bIns="0" rtlCol="0" anchor="t">
            <a:spAutoFit/>
          </a:bodyPr>
          <a:lstStyle/>
          <a:p>
            <a:pPr algn="l" indent="0" marL="0">
              <a:lnSpc>
                <a:spcPts val="1400"/>
              </a:lnSpc>
              <a:buNone/>
            </a:pPr>
            <a:r>
              <a:rPr lang="en-US" sz="942" dirty="0">
                <a:solidFill>
                  <a:srgbClr val="2D3436"/>
                </a:solidFill>
              </a:rPr>
              <a:t>Necesitas al menos 8 GB de espacio libre. ¡Atención! Se borrará todo lo que haya en ella.</a:t>
            </a:r>
            <a:endParaRPr lang="en-US" sz="942" dirty="0"/>
          </a:p>
        </p:txBody>
      </p:sp>
      <p:sp>
        <p:nvSpPr>
          <p:cNvPr id="13" name="Shape 7"/>
          <p:cNvSpPr/>
          <p:nvPr/>
        </p:nvSpPr>
        <p:spPr>
          <a:xfrm>
            <a:off x="571500" y="3297175"/>
            <a:ext cx="428625" cy="428625"/>
          </a:xfrm>
          <a:prstGeom prst="rect">
            <a:avLst/>
          </a:prstGeom>
          <a:solidFill>
            <a:srgbClr val="00B894"/>
          </a:solidFill>
          <a:ln/>
        </p:spPr>
      </p:sp>
      <p:pic>
        <p:nvPicPr>
          <p:cNvPr id="14" name="Image 3" descr="preencoded.png">    </p:cNvPr>
          <p:cNvPicPr>
            <a:picLocks noChangeAspect="1"/>
          </p:cNvPicPr>
          <p:nvPr/>
        </p:nvPicPr>
        <p:blipFill>
          <a:blip r:embed="rId4"/>
          <a:stretch>
            <a:fillRect/>
          </a:stretch>
        </p:blipFill>
        <p:spPr>
          <a:xfrm>
            <a:off x="700088" y="3425763"/>
            <a:ext cx="171450" cy="171450"/>
          </a:xfrm>
          <a:prstGeom prst="rect">
            <a:avLst/>
          </a:prstGeom>
        </p:spPr>
      </p:pic>
      <p:sp>
        <p:nvSpPr>
          <p:cNvPr id="15" name="Text 8"/>
          <p:cNvSpPr/>
          <p:nvPr/>
        </p:nvSpPr>
        <p:spPr>
          <a:xfrm>
            <a:off x="1143000" y="3297175"/>
            <a:ext cx="3357563"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2D3436"/>
                </a:solidFill>
              </a:rPr>
              <a:t>Llave Mágica</a:t>
            </a:r>
            <a:endParaRPr lang="en-US" sz="1193" dirty="0"/>
          </a:p>
        </p:txBody>
      </p:sp>
      <p:sp>
        <p:nvSpPr>
          <p:cNvPr id="16" name="Text 9"/>
          <p:cNvSpPr/>
          <p:nvPr/>
        </p:nvSpPr>
        <p:spPr>
          <a:xfrm>
            <a:off x="1143000" y="3602571"/>
            <a:ext cx="3357563" cy="360034"/>
          </a:xfrm>
          <a:prstGeom prst="rect">
            <a:avLst/>
          </a:prstGeom>
          <a:noFill/>
          <a:ln/>
        </p:spPr>
        <p:txBody>
          <a:bodyPr wrap="square" lIns="0" tIns="0" rIns="0" bIns="0" rtlCol="0" anchor="t">
            <a:spAutoFit/>
          </a:bodyPr>
          <a:lstStyle/>
          <a:p>
            <a:pPr algn="l" indent="0" marL="0">
              <a:lnSpc>
                <a:spcPts val="1400"/>
              </a:lnSpc>
              <a:buNone/>
            </a:pPr>
            <a:r>
              <a:rPr lang="en-US" sz="942" dirty="0">
                <a:solidFill>
                  <a:srgbClr val="2D3436"/>
                </a:solidFill>
              </a:rPr>
              <a:t>Usa programas como BalenaEtcher o Rufus para preparar tu USB y hacerlo arrancable.</a:t>
            </a:r>
            <a:endParaRPr lang="en-US" sz="942" dirty="0"/>
          </a:p>
        </p:txBody>
      </p:sp>
      <p:pic>
        <p:nvPicPr>
          <p:cNvPr id="17" name="Image 4" descr="preencoded.png">    </p:cNvPr>
          <p:cNvPicPr>
            <a:picLocks noChangeAspect="1"/>
          </p:cNvPicPr>
          <p:nvPr/>
        </p:nvPicPr>
        <p:blipFill>
          <a:blip r:embed="rId5"/>
          <a:stretch>
            <a:fillRect/>
          </a:stretch>
        </p:blipFill>
        <p:spPr>
          <a:xfrm>
            <a:off x="5000625" y="1323380"/>
            <a:ext cx="3571875" cy="285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6C5CE7"/>
                </a:solidFill>
              </a:rPr>
              <a:t>Entrando al Modo Live sin tocar tus archivos</a:t>
            </a:r>
            <a:endParaRPr lang="en-US" sz="2436" dirty="0"/>
          </a:p>
        </p:txBody>
      </p:sp>
      <p:pic>
        <p:nvPicPr>
          <p:cNvPr id="5" name="Image 1" descr="preencoded.png">    </p:cNvPr>
          <p:cNvPicPr>
            <a:picLocks noChangeAspect="1"/>
          </p:cNvPicPr>
          <p:nvPr/>
        </p:nvPicPr>
        <p:blipFill>
          <a:blip r:embed="rId2"/>
          <a:stretch>
            <a:fillRect/>
          </a:stretch>
        </p:blipFill>
        <p:spPr>
          <a:xfrm>
            <a:off x="571500" y="1323380"/>
            <a:ext cx="3571875" cy="2857500"/>
          </a:xfrm>
          <a:prstGeom prst="rect">
            <a:avLst/>
          </a:prstGeom>
        </p:spPr>
      </p:pic>
      <p:sp>
        <p:nvSpPr>
          <p:cNvPr id="6" name="Shape 1"/>
          <p:cNvSpPr/>
          <p:nvPr/>
        </p:nvSpPr>
        <p:spPr>
          <a:xfrm>
            <a:off x="4643438" y="1537692"/>
            <a:ext cx="428625" cy="428625"/>
          </a:xfrm>
          <a:prstGeom prst="rect">
            <a:avLst/>
          </a:prstGeom>
          <a:solidFill>
            <a:srgbClr val="FD79A8"/>
          </a:solidFill>
          <a:ln/>
        </p:spPr>
      </p:sp>
      <p:sp>
        <p:nvSpPr>
          <p:cNvPr id="7" name="Text 2"/>
          <p:cNvSpPr/>
          <p:nvPr/>
        </p:nvSpPr>
        <p:spPr>
          <a:xfrm>
            <a:off x="4643438" y="1537692"/>
            <a:ext cx="428625" cy="428625"/>
          </a:xfrm>
          <a:prstGeom prst="rect">
            <a:avLst/>
          </a:prstGeom>
          <a:noFill/>
          <a:ln/>
        </p:spPr>
        <p:txBody>
          <a:bodyPr wrap="square" lIns="0" tIns="0" rIns="0" bIns="0" rtlCol="0" anchor="ctr">
            <a:spAutoFit/>
          </a:bodyPr>
          <a:lstStyle/>
          <a:p>
            <a:pPr algn="ctr" indent="0" marL="0">
              <a:lnSpc>
                <a:spcPts val="1900"/>
              </a:lnSpc>
              <a:buNone/>
            </a:pPr>
            <a:r>
              <a:rPr lang="en-US" sz="1397" b="1" dirty="0">
                <a:solidFill>
                  <a:srgbClr val="FFFFFF"/>
                </a:solidFill>
              </a:rPr>
              <a:t>1</a:t>
            </a:r>
            <a:endParaRPr lang="en-US" sz="1397" dirty="0"/>
          </a:p>
        </p:txBody>
      </p:sp>
      <p:sp>
        <p:nvSpPr>
          <p:cNvPr id="8" name="Text 3"/>
          <p:cNvSpPr/>
          <p:nvPr/>
        </p:nvSpPr>
        <p:spPr>
          <a:xfrm>
            <a:off x="5214938" y="1537692"/>
            <a:ext cx="3357563"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2D3436"/>
                </a:solidFill>
              </a:rPr>
              <a:t>Conecta y Reinicia</a:t>
            </a:r>
            <a:endParaRPr lang="en-US" sz="1193" dirty="0"/>
          </a:p>
        </p:txBody>
      </p:sp>
      <p:sp>
        <p:nvSpPr>
          <p:cNvPr id="9" name="Text 4"/>
          <p:cNvSpPr/>
          <p:nvPr/>
        </p:nvSpPr>
        <p:spPr>
          <a:xfrm>
            <a:off x="5214938" y="1843088"/>
            <a:ext cx="3357563" cy="360034"/>
          </a:xfrm>
          <a:prstGeom prst="rect">
            <a:avLst/>
          </a:prstGeom>
          <a:noFill/>
          <a:ln/>
        </p:spPr>
        <p:txBody>
          <a:bodyPr wrap="square" lIns="0" tIns="0" rIns="0" bIns="0" rtlCol="0" anchor="t">
            <a:spAutoFit/>
          </a:bodyPr>
          <a:lstStyle/>
          <a:p>
            <a:pPr algn="l" indent="0" marL="0">
              <a:lnSpc>
                <a:spcPts val="1400"/>
              </a:lnSpc>
              <a:buNone/>
            </a:pPr>
            <a:r>
              <a:rPr lang="en-US" sz="942" dirty="0">
                <a:solidFill>
                  <a:srgbClr val="2D3436"/>
                </a:solidFill>
              </a:rPr>
              <a:t>Conecta tu USB y reinicia la computadora. Prepárate para presionar la tecla de arranque.</a:t>
            </a:r>
            <a:endParaRPr lang="en-US" sz="942" dirty="0"/>
          </a:p>
        </p:txBody>
      </p:sp>
      <p:sp>
        <p:nvSpPr>
          <p:cNvPr id="10" name="Shape 5"/>
          <p:cNvSpPr/>
          <p:nvPr/>
        </p:nvSpPr>
        <p:spPr>
          <a:xfrm>
            <a:off x="4643438" y="2417434"/>
            <a:ext cx="428625" cy="428625"/>
          </a:xfrm>
          <a:prstGeom prst="rect">
            <a:avLst/>
          </a:prstGeom>
          <a:solidFill>
            <a:srgbClr val="FD79A8"/>
          </a:solidFill>
          <a:ln/>
        </p:spPr>
      </p:sp>
      <p:sp>
        <p:nvSpPr>
          <p:cNvPr id="11" name="Text 6"/>
          <p:cNvSpPr/>
          <p:nvPr/>
        </p:nvSpPr>
        <p:spPr>
          <a:xfrm>
            <a:off x="4643438" y="2417434"/>
            <a:ext cx="428625" cy="428625"/>
          </a:xfrm>
          <a:prstGeom prst="rect">
            <a:avLst/>
          </a:prstGeom>
          <a:noFill/>
          <a:ln/>
        </p:spPr>
        <p:txBody>
          <a:bodyPr wrap="square" lIns="0" tIns="0" rIns="0" bIns="0" rtlCol="0" anchor="ctr">
            <a:spAutoFit/>
          </a:bodyPr>
          <a:lstStyle/>
          <a:p>
            <a:pPr algn="ctr" indent="0" marL="0">
              <a:lnSpc>
                <a:spcPts val="1900"/>
              </a:lnSpc>
              <a:buNone/>
            </a:pPr>
            <a:r>
              <a:rPr lang="en-US" sz="1397" b="1" dirty="0">
                <a:solidFill>
                  <a:srgbClr val="FFFFFF"/>
                </a:solidFill>
              </a:rPr>
              <a:t>2</a:t>
            </a:r>
            <a:endParaRPr lang="en-US" sz="1397" dirty="0"/>
          </a:p>
        </p:txBody>
      </p:sp>
      <p:sp>
        <p:nvSpPr>
          <p:cNvPr id="12" name="Text 7"/>
          <p:cNvSpPr/>
          <p:nvPr/>
        </p:nvSpPr>
        <p:spPr>
          <a:xfrm>
            <a:off x="5214938" y="2417434"/>
            <a:ext cx="3357563"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2D3436"/>
                </a:solidFill>
              </a:rPr>
              <a:t>Menú de Arranque</a:t>
            </a:r>
            <a:endParaRPr lang="en-US" sz="1193" dirty="0"/>
          </a:p>
        </p:txBody>
      </p:sp>
      <p:sp>
        <p:nvSpPr>
          <p:cNvPr id="13" name="Text 8"/>
          <p:cNvSpPr/>
          <p:nvPr/>
        </p:nvSpPr>
        <p:spPr>
          <a:xfrm>
            <a:off x="5214938" y="2722829"/>
            <a:ext cx="3357563" cy="360034"/>
          </a:xfrm>
          <a:prstGeom prst="rect">
            <a:avLst/>
          </a:prstGeom>
          <a:noFill/>
          <a:ln/>
        </p:spPr>
        <p:txBody>
          <a:bodyPr wrap="square" lIns="0" tIns="0" rIns="0" bIns="0" rtlCol="0" anchor="t">
            <a:spAutoFit/>
          </a:bodyPr>
          <a:lstStyle/>
          <a:p>
            <a:pPr algn="l" indent="0" marL="0">
              <a:lnSpc>
                <a:spcPts val="1400"/>
              </a:lnSpc>
              <a:buNone/>
            </a:pPr>
            <a:r>
              <a:rPr lang="en-US" sz="942" dirty="0">
                <a:solidFill>
                  <a:srgbClr val="2D3436"/>
                </a:solidFill>
              </a:rPr>
              <a:t>Presiona F2, F12 o Supr repetidamente al encender para elegir arrancar desde la USB.</a:t>
            </a:r>
            <a:endParaRPr lang="en-US" sz="942" dirty="0"/>
          </a:p>
        </p:txBody>
      </p:sp>
      <p:sp>
        <p:nvSpPr>
          <p:cNvPr id="14" name="Shape 9"/>
          <p:cNvSpPr/>
          <p:nvPr/>
        </p:nvSpPr>
        <p:spPr>
          <a:xfrm>
            <a:off x="4643438" y="3297175"/>
            <a:ext cx="428625" cy="428625"/>
          </a:xfrm>
          <a:prstGeom prst="rect">
            <a:avLst/>
          </a:prstGeom>
          <a:solidFill>
            <a:srgbClr val="FD79A8"/>
          </a:solidFill>
          <a:ln/>
        </p:spPr>
      </p:sp>
      <p:sp>
        <p:nvSpPr>
          <p:cNvPr id="15" name="Text 10"/>
          <p:cNvSpPr/>
          <p:nvPr/>
        </p:nvSpPr>
        <p:spPr>
          <a:xfrm>
            <a:off x="4643438" y="3297175"/>
            <a:ext cx="428625" cy="428625"/>
          </a:xfrm>
          <a:prstGeom prst="rect">
            <a:avLst/>
          </a:prstGeom>
          <a:noFill/>
          <a:ln/>
        </p:spPr>
        <p:txBody>
          <a:bodyPr wrap="square" lIns="0" tIns="0" rIns="0" bIns="0" rtlCol="0" anchor="ctr">
            <a:spAutoFit/>
          </a:bodyPr>
          <a:lstStyle/>
          <a:p>
            <a:pPr algn="ctr" indent="0" marL="0">
              <a:lnSpc>
                <a:spcPts val="1900"/>
              </a:lnSpc>
              <a:buNone/>
            </a:pPr>
            <a:r>
              <a:rPr lang="en-US" sz="1397" b="1" dirty="0">
                <a:solidFill>
                  <a:srgbClr val="FFFFFF"/>
                </a:solidFill>
              </a:rPr>
              <a:t>3</a:t>
            </a:r>
            <a:endParaRPr lang="en-US" sz="1397" dirty="0"/>
          </a:p>
        </p:txBody>
      </p:sp>
      <p:sp>
        <p:nvSpPr>
          <p:cNvPr id="16" name="Text 11"/>
          <p:cNvSpPr/>
          <p:nvPr/>
        </p:nvSpPr>
        <p:spPr>
          <a:xfrm>
            <a:off x="5214938" y="3297175"/>
            <a:ext cx="3357563"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2D3436"/>
                </a:solidFill>
              </a:rPr>
              <a:t>Modo Live</a:t>
            </a:r>
            <a:endParaRPr lang="en-US" sz="1193" dirty="0"/>
          </a:p>
        </p:txBody>
      </p:sp>
      <p:sp>
        <p:nvSpPr>
          <p:cNvPr id="17" name="Text 12"/>
          <p:cNvSpPr/>
          <p:nvPr/>
        </p:nvSpPr>
        <p:spPr>
          <a:xfrm>
            <a:off x="5214938" y="3602571"/>
            <a:ext cx="3357563" cy="360034"/>
          </a:xfrm>
          <a:prstGeom prst="rect">
            <a:avLst/>
          </a:prstGeom>
          <a:noFill/>
          <a:ln/>
        </p:spPr>
        <p:txBody>
          <a:bodyPr wrap="square" lIns="0" tIns="0" rIns="0" bIns="0" rtlCol="0" anchor="t">
            <a:spAutoFit/>
          </a:bodyPr>
          <a:lstStyle/>
          <a:p>
            <a:pPr algn="l" indent="0" marL="0">
              <a:lnSpc>
                <a:spcPts val="1400"/>
              </a:lnSpc>
              <a:buNone/>
            </a:pPr>
            <a:r>
              <a:rPr lang="en-US" sz="942" dirty="0">
                <a:solidFill>
                  <a:srgbClr val="2D3436"/>
                </a:solidFill>
              </a:rPr>
              <a:t>Prueba Linux, navega y juega sin instalar nada todavía. ¡Es totalmente seguro!</a:t>
            </a:r>
            <a:endParaRPr lang="en-US" sz="94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318745"/>
          </a:xfrm>
          <a:prstGeom prst="rect">
            <a:avLst/>
          </a:prstGeom>
        </p:spPr>
      </p:pic>
      <p:sp>
        <p:nvSpPr>
          <p:cNvPr id="4" name="Text 0"/>
          <p:cNvSpPr/>
          <p:nvPr/>
        </p:nvSpPr>
        <p:spPr>
          <a:xfrm>
            <a:off x="571500" y="428625"/>
            <a:ext cx="8001000" cy="932259"/>
          </a:xfrm>
          <a:prstGeom prst="rect">
            <a:avLst/>
          </a:prstGeom>
          <a:noFill/>
          <a:ln/>
        </p:spPr>
        <p:txBody>
          <a:bodyPr wrap="square" lIns="0" tIns="0" rIns="0" bIns="0" rtlCol="0" anchor="t">
            <a:spAutoFit/>
          </a:bodyPr>
          <a:lstStyle/>
          <a:p>
            <a:pPr algn="ctr" indent="0" marL="0">
              <a:lnSpc>
                <a:spcPts val="3200"/>
              </a:lnSpc>
              <a:buNone/>
            </a:pPr>
            <a:r>
              <a:rPr lang="en-US" sz="2436" b="1" dirty="0">
                <a:solidFill>
                  <a:srgbClr val="6C5CE7"/>
                </a:solidFill>
              </a:rPr>
              <a:t>El Dual Boot te permite conservar Windows y Linux</a:t>
            </a:r>
            <a:endParaRPr lang="en-US" sz="2436" dirty="0"/>
          </a:p>
        </p:txBody>
      </p:sp>
      <p:pic>
        <p:nvPicPr>
          <p:cNvPr id="5" name="Image 1" descr="preencoded.png">    </p:cNvPr>
          <p:cNvPicPr>
            <a:picLocks noChangeAspect="1"/>
          </p:cNvPicPr>
          <p:nvPr/>
        </p:nvPicPr>
        <p:blipFill>
          <a:blip r:embed="rId2"/>
          <a:stretch>
            <a:fillRect/>
          </a:stretch>
        </p:blipFill>
        <p:spPr>
          <a:xfrm>
            <a:off x="571500" y="2339690"/>
            <a:ext cx="3929063" cy="2500313"/>
          </a:xfrm>
          <a:prstGeom prst="rect">
            <a:avLst/>
          </a:prstGeom>
        </p:spPr>
      </p:pic>
      <p:sp>
        <p:nvSpPr>
          <p:cNvPr id="6" name="Shape 1"/>
          <p:cNvSpPr/>
          <p:nvPr/>
        </p:nvSpPr>
        <p:spPr>
          <a:xfrm>
            <a:off x="5000625" y="2003822"/>
            <a:ext cx="3571875" cy="1009724"/>
          </a:xfrm>
          <a:prstGeom prst="rect">
            <a:avLst/>
          </a:prstGeom>
          <a:solidFill>
            <a:srgbClr val="FFFFFF"/>
          </a:solidFill>
          <a:ln/>
        </p:spPr>
      </p:sp>
      <p:sp>
        <p:nvSpPr>
          <p:cNvPr id="7" name="Shape 2"/>
          <p:cNvSpPr/>
          <p:nvPr/>
        </p:nvSpPr>
        <p:spPr>
          <a:xfrm>
            <a:off x="5000625" y="2003822"/>
            <a:ext cx="3571875" cy="42863"/>
          </a:xfrm>
          <a:prstGeom prst="rect">
            <a:avLst/>
          </a:prstGeom>
          <a:solidFill>
            <a:srgbClr val="00B894"/>
          </a:solidFill>
          <a:ln/>
        </p:spPr>
      </p:sp>
      <p:sp>
        <p:nvSpPr>
          <p:cNvPr id="8" name="Text 3"/>
          <p:cNvSpPr/>
          <p:nvPr/>
        </p:nvSpPr>
        <p:spPr>
          <a:xfrm>
            <a:off x="5214938" y="2218134"/>
            <a:ext cx="3143250"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00B894"/>
                </a:solidFill>
              </a:rPr>
              <a:t>¿Qué es el Dual Boot?</a:t>
            </a:r>
            <a:endParaRPr lang="en-US" sz="1193" dirty="0"/>
          </a:p>
        </p:txBody>
      </p:sp>
      <p:sp>
        <p:nvSpPr>
          <p:cNvPr id="9" name="Text 4"/>
          <p:cNvSpPr/>
          <p:nvPr/>
        </p:nvSpPr>
        <p:spPr>
          <a:xfrm>
            <a:off x="5214938" y="2559248"/>
            <a:ext cx="3143250"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2D3436"/>
                </a:solidFill>
              </a:rPr>
              <a:t>Es tener dos sistemas operativos en la misma computadora. Tú eliges cuál usar al encenderla.</a:t>
            </a:r>
            <a:endParaRPr lang="en-US" sz="942" dirty="0"/>
          </a:p>
        </p:txBody>
      </p:sp>
      <p:sp>
        <p:nvSpPr>
          <p:cNvPr id="10" name="Shape 5"/>
          <p:cNvSpPr/>
          <p:nvPr/>
        </p:nvSpPr>
        <p:spPr>
          <a:xfrm>
            <a:off x="5000625" y="3113559"/>
            <a:ext cx="3571875" cy="1009724"/>
          </a:xfrm>
          <a:prstGeom prst="rect">
            <a:avLst/>
          </a:prstGeom>
          <a:solidFill>
            <a:srgbClr val="FFFFFF"/>
          </a:solidFill>
          <a:ln/>
        </p:spPr>
      </p:sp>
      <p:sp>
        <p:nvSpPr>
          <p:cNvPr id="11" name="Shape 6"/>
          <p:cNvSpPr/>
          <p:nvPr/>
        </p:nvSpPr>
        <p:spPr>
          <a:xfrm>
            <a:off x="5000625" y="3113559"/>
            <a:ext cx="3571875" cy="42863"/>
          </a:xfrm>
          <a:prstGeom prst="rect">
            <a:avLst/>
          </a:prstGeom>
          <a:solidFill>
            <a:srgbClr val="00B894"/>
          </a:solidFill>
          <a:ln/>
        </p:spPr>
      </p:sp>
      <p:sp>
        <p:nvSpPr>
          <p:cNvPr id="12" name="Text 7"/>
          <p:cNvSpPr/>
          <p:nvPr/>
        </p:nvSpPr>
        <p:spPr>
          <a:xfrm>
            <a:off x="5214938" y="3327871"/>
            <a:ext cx="3143250"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00B894"/>
                </a:solidFill>
              </a:rPr>
              <a:t>Espacio para Crecer</a:t>
            </a:r>
            <a:endParaRPr lang="en-US" sz="1193" dirty="0"/>
          </a:p>
        </p:txBody>
      </p:sp>
      <p:sp>
        <p:nvSpPr>
          <p:cNvPr id="13" name="Text 8"/>
          <p:cNvSpPr/>
          <p:nvPr/>
        </p:nvSpPr>
        <p:spPr>
          <a:xfrm>
            <a:off x="5214938" y="3668985"/>
            <a:ext cx="3143250"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2D3436"/>
                </a:solidFill>
              </a:rPr>
              <a:t>Necesitas liberar al menos 50 GB de espacio "No Asignado" en tu disco duro para Linux.</a:t>
            </a:r>
            <a:endParaRPr lang="en-US" sz="942" dirty="0"/>
          </a:p>
        </p:txBody>
      </p:sp>
      <p:sp>
        <p:nvSpPr>
          <p:cNvPr id="14" name="Shape 9"/>
          <p:cNvSpPr/>
          <p:nvPr/>
        </p:nvSpPr>
        <p:spPr>
          <a:xfrm>
            <a:off x="5000625" y="4223296"/>
            <a:ext cx="3571875" cy="1009724"/>
          </a:xfrm>
          <a:prstGeom prst="rect">
            <a:avLst/>
          </a:prstGeom>
          <a:solidFill>
            <a:srgbClr val="FFFFFF"/>
          </a:solidFill>
          <a:ln/>
        </p:spPr>
      </p:sp>
      <p:sp>
        <p:nvSpPr>
          <p:cNvPr id="15" name="Shape 10"/>
          <p:cNvSpPr/>
          <p:nvPr/>
        </p:nvSpPr>
        <p:spPr>
          <a:xfrm>
            <a:off x="5000625" y="4223296"/>
            <a:ext cx="3571875" cy="42863"/>
          </a:xfrm>
          <a:prstGeom prst="rect">
            <a:avLst/>
          </a:prstGeom>
          <a:solidFill>
            <a:srgbClr val="00B894"/>
          </a:solidFill>
          <a:ln/>
        </p:spPr>
      </p:sp>
      <p:sp>
        <p:nvSpPr>
          <p:cNvPr id="16" name="Text 11"/>
          <p:cNvSpPr/>
          <p:nvPr/>
        </p:nvSpPr>
        <p:spPr>
          <a:xfrm>
            <a:off x="5214938" y="4437608"/>
            <a:ext cx="3143250"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00B894"/>
                </a:solidFill>
              </a:rPr>
              <a:t>Tus Archivos a Salvo</a:t>
            </a:r>
            <a:endParaRPr lang="en-US" sz="1193" dirty="0"/>
          </a:p>
        </p:txBody>
      </p:sp>
      <p:sp>
        <p:nvSpPr>
          <p:cNvPr id="17" name="Text 12"/>
          <p:cNvSpPr/>
          <p:nvPr/>
        </p:nvSpPr>
        <p:spPr>
          <a:xfrm>
            <a:off x="5214938" y="4778722"/>
            <a:ext cx="3143250"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2D3436"/>
                </a:solidFill>
              </a:rPr>
              <a:t>Si sigues los pasos correctamente, tus documentos y fotos de Windows no se perderán.</a:t>
            </a:r>
            <a:endParaRPr lang="en-US" sz="942"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6C5CE7"/>
                </a:solidFill>
              </a:rPr>
              <a:t>Configura tu entorno de trabajo ideal</a:t>
            </a:r>
            <a:endParaRPr lang="en-US" sz="2436" dirty="0"/>
          </a:p>
        </p:txBody>
      </p:sp>
      <p:sp>
        <p:nvSpPr>
          <p:cNvPr id="5" name="Shape 1"/>
          <p:cNvSpPr/>
          <p:nvPr/>
        </p:nvSpPr>
        <p:spPr>
          <a:xfrm rot="-180000">
            <a:off x="571500" y="1824335"/>
            <a:ext cx="500063" cy="500063"/>
          </a:xfrm>
          <a:prstGeom prst="rect">
            <a:avLst/>
          </a:prstGeom>
          <a:solidFill>
            <a:srgbClr val="00B894"/>
          </a:solidFill>
          <a:ln/>
        </p:spPr>
      </p:sp>
      <p:pic>
        <p:nvPicPr>
          <p:cNvPr id="6" name="Image 1" descr="preencoded.png">    </p:cNvPr>
          <p:cNvPicPr>
            <a:picLocks noChangeAspect="1"/>
          </p:cNvPicPr>
          <p:nvPr/>
        </p:nvPicPr>
        <p:blipFill>
          <a:blip r:embed="rId2"/>
          <a:stretch>
            <a:fillRect/>
          </a:stretch>
        </p:blipFill>
        <p:spPr>
          <a:xfrm rot="-180000">
            <a:off x="714375" y="1967210"/>
            <a:ext cx="214312" cy="214312"/>
          </a:xfrm>
          <a:prstGeom prst="rect">
            <a:avLst/>
          </a:prstGeom>
        </p:spPr>
      </p:pic>
      <p:sp>
        <p:nvSpPr>
          <p:cNvPr id="7" name="Text 2"/>
          <p:cNvSpPr/>
          <p:nvPr/>
        </p:nvSpPr>
        <p:spPr>
          <a:xfrm>
            <a:off x="1250156" y="1737717"/>
            <a:ext cx="2893219" cy="251817"/>
          </a:xfrm>
          <a:prstGeom prst="rect">
            <a:avLst/>
          </a:prstGeom>
          <a:noFill/>
          <a:ln/>
        </p:spPr>
        <p:txBody>
          <a:bodyPr wrap="none" lIns="0" tIns="0" rIns="0" bIns="0" rtlCol="0" anchor="t">
            <a:spAutoFit/>
          </a:bodyPr>
          <a:lstStyle/>
          <a:p>
            <a:pPr algn="l" indent="0" marL="0">
              <a:lnSpc>
                <a:spcPts val="1800"/>
              </a:lnSpc>
              <a:buNone/>
            </a:pPr>
            <a:r>
              <a:rPr lang="en-US" sz="1295" b="1" dirty="0">
                <a:solidFill>
                  <a:srgbClr val="2D3436"/>
                </a:solidFill>
              </a:rPr>
              <a:t>Inicia el Instalador</a:t>
            </a:r>
            <a:endParaRPr lang="en-US" sz="1295" dirty="0"/>
          </a:p>
        </p:txBody>
      </p:sp>
      <p:sp>
        <p:nvSpPr>
          <p:cNvPr id="8" name="Text 3"/>
          <p:cNvSpPr/>
          <p:nvPr/>
        </p:nvSpPr>
        <p:spPr>
          <a:xfrm>
            <a:off x="1250156" y="2025253"/>
            <a:ext cx="2893219"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2D3436"/>
                </a:solidFill>
              </a:rPr>
              <a:t>Haz clic en el icono "Instalar" desde el escritorio del Modo Live para comenzar la misión.</a:t>
            </a:r>
            <a:endParaRPr lang="en-US" sz="942" dirty="0"/>
          </a:p>
        </p:txBody>
      </p:sp>
      <p:sp>
        <p:nvSpPr>
          <p:cNvPr id="9" name="Shape 4"/>
          <p:cNvSpPr/>
          <p:nvPr/>
        </p:nvSpPr>
        <p:spPr>
          <a:xfrm rot="-180000">
            <a:off x="571500" y="2783384"/>
            <a:ext cx="500063" cy="500063"/>
          </a:xfrm>
          <a:prstGeom prst="rect">
            <a:avLst/>
          </a:prstGeom>
          <a:solidFill>
            <a:srgbClr val="00B894"/>
          </a:solidFill>
          <a:ln/>
        </p:spPr>
      </p:sp>
      <p:pic>
        <p:nvPicPr>
          <p:cNvPr id="10" name="Image 2" descr="preencoded.png">    </p:cNvPr>
          <p:cNvPicPr>
            <a:picLocks noChangeAspect="1"/>
          </p:cNvPicPr>
          <p:nvPr/>
        </p:nvPicPr>
        <p:blipFill>
          <a:blip r:embed="rId3"/>
          <a:stretch>
            <a:fillRect/>
          </a:stretch>
        </p:blipFill>
        <p:spPr>
          <a:xfrm rot="-180000">
            <a:off x="687586" y="2926259"/>
            <a:ext cx="267891" cy="214313"/>
          </a:xfrm>
          <a:prstGeom prst="rect">
            <a:avLst/>
          </a:prstGeom>
        </p:spPr>
      </p:pic>
      <p:sp>
        <p:nvSpPr>
          <p:cNvPr id="11" name="Text 5"/>
          <p:cNvSpPr/>
          <p:nvPr/>
        </p:nvSpPr>
        <p:spPr>
          <a:xfrm>
            <a:off x="1250156" y="2696766"/>
            <a:ext cx="2893219" cy="251817"/>
          </a:xfrm>
          <a:prstGeom prst="rect">
            <a:avLst/>
          </a:prstGeom>
          <a:noFill/>
          <a:ln/>
        </p:spPr>
        <p:txBody>
          <a:bodyPr wrap="none" lIns="0" tIns="0" rIns="0" bIns="0" rtlCol="0" anchor="t">
            <a:spAutoFit/>
          </a:bodyPr>
          <a:lstStyle/>
          <a:p>
            <a:pPr algn="l" indent="0" marL="0">
              <a:lnSpc>
                <a:spcPts val="1800"/>
              </a:lnSpc>
              <a:buNone/>
            </a:pPr>
            <a:r>
              <a:rPr lang="en-US" sz="1295" b="1" dirty="0">
                <a:solidFill>
                  <a:srgbClr val="2D3436"/>
                </a:solidFill>
              </a:rPr>
              <a:t>Elige tu Idioma</a:t>
            </a:r>
            <a:endParaRPr lang="en-US" sz="1295" dirty="0"/>
          </a:p>
        </p:txBody>
      </p:sp>
      <p:sp>
        <p:nvSpPr>
          <p:cNvPr id="12" name="Text 6"/>
          <p:cNvSpPr/>
          <p:nvPr/>
        </p:nvSpPr>
        <p:spPr>
          <a:xfrm>
            <a:off x="1250156" y="2984302"/>
            <a:ext cx="2893219"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2D3436"/>
                </a:solidFill>
              </a:rPr>
              <a:t>Selecciona "Español" para que todas las ventanas y mensajes sean fáciles de entender.</a:t>
            </a:r>
            <a:endParaRPr lang="en-US" sz="942" dirty="0"/>
          </a:p>
        </p:txBody>
      </p:sp>
      <p:sp>
        <p:nvSpPr>
          <p:cNvPr id="13" name="Shape 7"/>
          <p:cNvSpPr/>
          <p:nvPr/>
        </p:nvSpPr>
        <p:spPr>
          <a:xfrm rot="-180000">
            <a:off x="571500" y="3742432"/>
            <a:ext cx="500063" cy="500063"/>
          </a:xfrm>
          <a:prstGeom prst="rect">
            <a:avLst/>
          </a:prstGeom>
          <a:solidFill>
            <a:srgbClr val="00B894"/>
          </a:solidFill>
          <a:ln/>
        </p:spPr>
      </p:sp>
      <p:pic>
        <p:nvPicPr>
          <p:cNvPr id="14" name="Image 3" descr="preencoded.png">    </p:cNvPr>
          <p:cNvPicPr>
            <a:picLocks noChangeAspect="1"/>
          </p:cNvPicPr>
          <p:nvPr/>
        </p:nvPicPr>
        <p:blipFill>
          <a:blip r:embed="rId4"/>
          <a:stretch>
            <a:fillRect/>
          </a:stretch>
        </p:blipFill>
        <p:spPr>
          <a:xfrm rot="-180000">
            <a:off x="700980" y="3885307"/>
            <a:ext cx="241102" cy="214312"/>
          </a:xfrm>
          <a:prstGeom prst="rect">
            <a:avLst/>
          </a:prstGeom>
        </p:spPr>
      </p:pic>
      <p:sp>
        <p:nvSpPr>
          <p:cNvPr id="15" name="Text 8"/>
          <p:cNvSpPr/>
          <p:nvPr/>
        </p:nvSpPr>
        <p:spPr>
          <a:xfrm>
            <a:off x="1250156" y="3655814"/>
            <a:ext cx="2893219" cy="251817"/>
          </a:xfrm>
          <a:prstGeom prst="rect">
            <a:avLst/>
          </a:prstGeom>
          <a:noFill/>
          <a:ln/>
        </p:spPr>
        <p:txBody>
          <a:bodyPr wrap="none" lIns="0" tIns="0" rIns="0" bIns="0" rtlCol="0" anchor="t">
            <a:spAutoFit/>
          </a:bodyPr>
          <a:lstStyle/>
          <a:p>
            <a:pPr algn="l" indent="0" marL="0">
              <a:lnSpc>
                <a:spcPts val="1800"/>
              </a:lnSpc>
              <a:buNone/>
            </a:pPr>
            <a:r>
              <a:rPr lang="en-US" sz="1295" b="1" dirty="0">
                <a:solidFill>
                  <a:srgbClr val="2D3436"/>
                </a:solidFill>
              </a:rPr>
              <a:t>Configura el Teclado</a:t>
            </a:r>
            <a:endParaRPr lang="en-US" sz="1295" dirty="0"/>
          </a:p>
        </p:txBody>
      </p:sp>
      <p:sp>
        <p:nvSpPr>
          <p:cNvPr id="16" name="Text 9"/>
          <p:cNvSpPr/>
          <p:nvPr/>
        </p:nvSpPr>
        <p:spPr>
          <a:xfrm>
            <a:off x="1250156" y="3943350"/>
            <a:ext cx="2893219"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2D3436"/>
                </a:solidFill>
              </a:rPr>
              <a:t>Asegúrate de que los acentos y la letra "ñ" funcionen perfectamente desde el principio.</a:t>
            </a:r>
            <a:endParaRPr lang="en-US" sz="942" dirty="0"/>
          </a:p>
        </p:txBody>
      </p:sp>
      <p:pic>
        <p:nvPicPr>
          <p:cNvPr id="17" name="Image 4" descr="preencoded.png">    </p:cNvPr>
          <p:cNvPicPr>
            <a:picLocks noChangeAspect="1"/>
          </p:cNvPicPr>
          <p:nvPr/>
        </p:nvPicPr>
        <p:blipFill>
          <a:blip r:embed="rId5"/>
          <a:stretch>
            <a:fillRect/>
          </a:stretch>
        </p:blipFill>
        <p:spPr>
          <a:xfrm>
            <a:off x="4572000" y="1461790"/>
            <a:ext cx="3857625" cy="2857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79554"/>
          </a:xfrm>
          <a:prstGeom prst="rect">
            <a:avLst/>
          </a:prstGeom>
        </p:spPr>
      </p:pic>
      <p:sp>
        <p:nvSpPr>
          <p:cNvPr id="4" name="Text 0"/>
          <p:cNvSpPr/>
          <p:nvPr/>
        </p:nvSpPr>
        <p:spPr>
          <a:xfrm>
            <a:off x="0" y="428625"/>
            <a:ext cx="9144000" cy="466130"/>
          </a:xfrm>
          <a:prstGeom prst="rect">
            <a:avLst/>
          </a:prstGeom>
          <a:noFill/>
          <a:ln/>
        </p:spPr>
        <p:txBody>
          <a:bodyPr wrap="none" lIns="0" tIns="0" rIns="0" bIns="0" rtlCol="0" anchor="t">
            <a:spAutoFit/>
          </a:bodyPr>
          <a:lstStyle/>
          <a:p>
            <a:pPr algn="ctr" indent="0" marL="0">
              <a:lnSpc>
                <a:spcPts val="3200"/>
              </a:lnSpc>
              <a:buNone/>
            </a:pPr>
            <a:r>
              <a:rPr lang="en-US" sz="2436" b="1" dirty="0">
                <a:solidFill>
                  <a:srgbClr val="00B894"/>
                </a:solidFill>
              </a:rPr>
              <a:t>Conectando tu computadora con El Salvador</a:t>
            </a:r>
            <a:endParaRPr lang="en-US" sz="2436" dirty="0"/>
          </a:p>
        </p:txBody>
      </p:sp>
      <p:pic>
        <p:nvPicPr>
          <p:cNvPr id="5" name="Image 1" descr="preencoded.png">    </p:cNvPr>
          <p:cNvPicPr>
            <a:picLocks noChangeAspect="1"/>
          </p:cNvPicPr>
          <p:nvPr/>
        </p:nvPicPr>
        <p:blipFill>
          <a:blip r:embed="rId2"/>
          <a:stretch>
            <a:fillRect/>
          </a:stretch>
        </p:blipFill>
        <p:spPr>
          <a:xfrm>
            <a:off x="2428875" y="1251942"/>
            <a:ext cx="4286250" cy="2500313"/>
          </a:xfrm>
          <a:prstGeom prst="rect">
            <a:avLst/>
          </a:prstGeom>
        </p:spPr>
      </p:pic>
      <p:sp>
        <p:nvSpPr>
          <p:cNvPr id="6" name="Shape 1"/>
          <p:cNvSpPr/>
          <p:nvPr/>
        </p:nvSpPr>
        <p:spPr>
          <a:xfrm>
            <a:off x="1589484" y="3966567"/>
            <a:ext cx="500063" cy="500063"/>
          </a:xfrm>
          <a:prstGeom prst="ellipse">
            <a:avLst/>
          </a:prstGeom>
          <a:solidFill>
            <a:srgbClr val="6C5CE7"/>
          </a:solidFill>
          <a:ln/>
        </p:spPr>
      </p:sp>
      <p:pic>
        <p:nvPicPr>
          <p:cNvPr id="7" name="Image 2" descr="preencoded.png">    </p:cNvPr>
          <p:cNvPicPr>
            <a:picLocks noChangeAspect="1"/>
          </p:cNvPicPr>
          <p:nvPr/>
        </p:nvPicPr>
        <p:blipFill>
          <a:blip r:embed="rId3"/>
          <a:stretch>
            <a:fillRect/>
          </a:stretch>
        </p:blipFill>
        <p:spPr>
          <a:xfrm>
            <a:off x="1759148" y="4109442"/>
            <a:ext cx="160734" cy="214313"/>
          </a:xfrm>
          <a:prstGeom prst="rect">
            <a:avLst/>
          </a:prstGeom>
        </p:spPr>
      </p:pic>
      <p:sp>
        <p:nvSpPr>
          <p:cNvPr id="8" name="Text 2"/>
          <p:cNvSpPr/>
          <p:nvPr/>
        </p:nvSpPr>
        <p:spPr>
          <a:xfrm>
            <a:off x="589359" y="4573786"/>
            <a:ext cx="2500313" cy="214313"/>
          </a:xfrm>
          <a:prstGeom prst="rect">
            <a:avLst/>
          </a:prstGeom>
          <a:noFill/>
          <a:ln/>
        </p:spPr>
        <p:txBody>
          <a:bodyPr wrap="none" lIns="0" tIns="0" rIns="0" bIns="0" rtlCol="0" anchor="t">
            <a:spAutoFit/>
          </a:bodyPr>
          <a:lstStyle/>
          <a:p>
            <a:pPr algn="ctr" indent="0" marL="0">
              <a:lnSpc>
                <a:spcPts val="1500"/>
              </a:lnSpc>
              <a:buNone/>
            </a:pPr>
            <a:r>
              <a:rPr lang="en-US" sz="1090" b="1" dirty="0">
                <a:solidFill>
                  <a:srgbClr val="2D3436"/>
                </a:solidFill>
              </a:rPr>
              <a:t>Zona Horaria</a:t>
            </a:r>
            <a:endParaRPr lang="en-US" sz="1090" dirty="0"/>
          </a:p>
        </p:txBody>
      </p:sp>
      <p:sp>
        <p:nvSpPr>
          <p:cNvPr id="9" name="Text 3"/>
          <p:cNvSpPr/>
          <p:nvPr/>
        </p:nvSpPr>
        <p:spPr>
          <a:xfrm>
            <a:off x="589359" y="4859536"/>
            <a:ext cx="2500313" cy="320018"/>
          </a:xfrm>
          <a:prstGeom prst="rect">
            <a:avLst/>
          </a:prstGeom>
          <a:noFill/>
          <a:ln/>
        </p:spPr>
        <p:txBody>
          <a:bodyPr wrap="square" lIns="0" tIns="0" rIns="0" bIns="0" rtlCol="0" anchor="t">
            <a:spAutoFit/>
          </a:bodyPr>
          <a:lstStyle/>
          <a:p>
            <a:pPr algn="ctr" indent="0" marL="0">
              <a:lnSpc>
                <a:spcPts val="1300"/>
              </a:lnSpc>
              <a:buNone/>
            </a:pPr>
            <a:r>
              <a:rPr lang="en-US" sz="834" dirty="0">
                <a:solidFill>
                  <a:srgbClr val="2D3436"/>
                </a:solidFill>
              </a:rPr>
              <a:t>Selecciona </a:t>
            </a:r>
            <a:pPr algn="ctr" indent="0" marL="0">
              <a:lnSpc>
                <a:spcPts val="1300"/>
              </a:lnSpc>
              <a:buNone/>
            </a:pPr>
            <a:r>
              <a:rPr lang="en-US" sz="784" b="1" dirty="0">
                <a:solidFill>
                  <a:srgbClr val="2D3436"/>
                </a:solidFill>
              </a:rPr>
              <a:t>San Salvador</a:t>
            </a:r>
            <a:pPr algn="ctr" indent="0" marL="0">
              <a:lnSpc>
                <a:spcPts val="1300"/>
              </a:lnSpc>
              <a:buNone/>
            </a:pPr>
            <a:r>
              <a:rPr lang="en-US" sz="834" dirty="0">
                <a:solidFill>
                  <a:srgbClr val="2D3436"/>
                </a:solidFill>
              </a:rPr>
              <a:t> en el mapa </a:t>
            </a:r>
            <a:pPr algn="ctr" indent="0" marL="0">
              <a:lnSpc>
                <a:spcPts val="1300"/>
              </a:lnSpc>
              <a:buNone/>
            </a:pPr>
            <a:r>
              <a:rPr lang="en-US" sz="834" dirty="0">
                <a:solidFill>
                  <a:srgbClr val="2D3436"/>
                </a:solidFill>
              </a:rPr>
              <a:t>interactivo para configurar tu ubicación.</a:t>
            </a:r>
            <a:endParaRPr lang="en-US" sz="834" dirty="0"/>
          </a:p>
        </p:txBody>
      </p:sp>
      <p:sp>
        <p:nvSpPr>
          <p:cNvPr id="10" name="Shape 4"/>
          <p:cNvSpPr/>
          <p:nvPr/>
        </p:nvSpPr>
        <p:spPr>
          <a:xfrm>
            <a:off x="4321969" y="3966567"/>
            <a:ext cx="500063" cy="500063"/>
          </a:xfrm>
          <a:prstGeom prst="ellipse">
            <a:avLst/>
          </a:prstGeom>
          <a:solidFill>
            <a:srgbClr val="6C5CE7"/>
          </a:solidFill>
          <a:ln/>
        </p:spPr>
      </p:sp>
      <p:pic>
        <p:nvPicPr>
          <p:cNvPr id="11" name="Image 3" descr="preencoded.png">    </p:cNvPr>
          <p:cNvPicPr>
            <a:picLocks noChangeAspect="1"/>
          </p:cNvPicPr>
          <p:nvPr/>
        </p:nvPicPr>
        <p:blipFill>
          <a:blip r:embed="rId4"/>
          <a:stretch>
            <a:fillRect/>
          </a:stretch>
        </p:blipFill>
        <p:spPr>
          <a:xfrm>
            <a:off x="4464844" y="4109442"/>
            <a:ext cx="214313" cy="214313"/>
          </a:xfrm>
          <a:prstGeom prst="rect">
            <a:avLst/>
          </a:prstGeom>
        </p:spPr>
      </p:pic>
      <p:sp>
        <p:nvSpPr>
          <p:cNvPr id="12" name="Text 5"/>
          <p:cNvSpPr/>
          <p:nvPr/>
        </p:nvSpPr>
        <p:spPr>
          <a:xfrm>
            <a:off x="3321844" y="4573786"/>
            <a:ext cx="2500313" cy="214313"/>
          </a:xfrm>
          <a:prstGeom prst="rect">
            <a:avLst/>
          </a:prstGeom>
          <a:noFill/>
          <a:ln/>
        </p:spPr>
        <p:txBody>
          <a:bodyPr wrap="none" lIns="0" tIns="0" rIns="0" bIns="0" rtlCol="0" anchor="t">
            <a:spAutoFit/>
          </a:bodyPr>
          <a:lstStyle/>
          <a:p>
            <a:pPr algn="ctr" indent="0" marL="0">
              <a:lnSpc>
                <a:spcPts val="1500"/>
              </a:lnSpc>
              <a:buNone/>
            </a:pPr>
            <a:r>
              <a:rPr lang="en-US" sz="1090" b="1" dirty="0">
                <a:solidFill>
                  <a:srgbClr val="2D3436"/>
                </a:solidFill>
              </a:rPr>
              <a:t>Sincronización</a:t>
            </a:r>
            <a:endParaRPr lang="en-US" sz="1090" dirty="0"/>
          </a:p>
        </p:txBody>
      </p:sp>
      <p:sp>
        <p:nvSpPr>
          <p:cNvPr id="13" name="Text 6"/>
          <p:cNvSpPr/>
          <p:nvPr/>
        </p:nvSpPr>
        <p:spPr>
          <a:xfrm>
            <a:off x="3321844" y="4859536"/>
            <a:ext cx="2500313" cy="320018"/>
          </a:xfrm>
          <a:prstGeom prst="rect">
            <a:avLst/>
          </a:prstGeom>
          <a:noFill/>
          <a:ln/>
        </p:spPr>
        <p:txBody>
          <a:bodyPr wrap="square" lIns="0" tIns="0" rIns="0" bIns="0" rtlCol="0" anchor="t">
            <a:spAutoFit/>
          </a:bodyPr>
          <a:lstStyle/>
          <a:p>
            <a:pPr algn="ctr" indent="0" marL="0">
              <a:lnSpc>
                <a:spcPts val="1300"/>
              </a:lnSpc>
              <a:buNone/>
            </a:pPr>
            <a:r>
              <a:rPr lang="en-US" sz="834" dirty="0">
                <a:solidFill>
                  <a:srgbClr val="2D3436"/>
                </a:solidFill>
              </a:rPr>
              <a:t>Esto asegura que tu reloj, calendario y actualizaciones estén siempre al día.</a:t>
            </a:r>
            <a:endParaRPr lang="en-US" sz="834" dirty="0"/>
          </a:p>
        </p:txBody>
      </p:sp>
      <p:sp>
        <p:nvSpPr>
          <p:cNvPr id="14" name="Shape 7"/>
          <p:cNvSpPr/>
          <p:nvPr/>
        </p:nvSpPr>
        <p:spPr>
          <a:xfrm>
            <a:off x="7054453" y="3966567"/>
            <a:ext cx="500063" cy="500063"/>
          </a:xfrm>
          <a:prstGeom prst="ellipse">
            <a:avLst/>
          </a:prstGeom>
          <a:solidFill>
            <a:srgbClr val="6C5CE7"/>
          </a:solidFill>
          <a:ln/>
        </p:spPr>
      </p:sp>
      <p:pic>
        <p:nvPicPr>
          <p:cNvPr id="15" name="Image 4" descr="preencoded.png">    </p:cNvPr>
          <p:cNvPicPr>
            <a:picLocks noChangeAspect="1"/>
          </p:cNvPicPr>
          <p:nvPr/>
        </p:nvPicPr>
        <p:blipFill>
          <a:blip r:embed="rId5"/>
          <a:stretch>
            <a:fillRect/>
          </a:stretch>
        </p:blipFill>
        <p:spPr>
          <a:xfrm>
            <a:off x="7183934" y="4109442"/>
            <a:ext cx="241102" cy="214313"/>
          </a:xfrm>
          <a:prstGeom prst="rect">
            <a:avLst/>
          </a:prstGeom>
        </p:spPr>
      </p:pic>
      <p:sp>
        <p:nvSpPr>
          <p:cNvPr id="16" name="Text 8"/>
          <p:cNvSpPr/>
          <p:nvPr/>
        </p:nvSpPr>
        <p:spPr>
          <a:xfrm>
            <a:off x="6054328" y="4573786"/>
            <a:ext cx="2500313" cy="214313"/>
          </a:xfrm>
          <a:prstGeom prst="rect">
            <a:avLst/>
          </a:prstGeom>
          <a:noFill/>
          <a:ln/>
        </p:spPr>
        <p:txBody>
          <a:bodyPr wrap="none" lIns="0" tIns="0" rIns="0" bIns="0" rtlCol="0" anchor="t">
            <a:spAutoFit/>
          </a:bodyPr>
          <a:lstStyle/>
          <a:p>
            <a:pPr algn="ctr" indent="0" marL="0">
              <a:lnSpc>
                <a:spcPts val="1500"/>
              </a:lnSpc>
              <a:buNone/>
            </a:pPr>
            <a:r>
              <a:rPr lang="en-US" sz="1090" b="1" dirty="0">
                <a:solidFill>
                  <a:srgbClr val="2D3436"/>
                </a:solidFill>
              </a:rPr>
              <a:t>Como en Casa</a:t>
            </a:r>
            <a:endParaRPr lang="en-US" sz="1090" dirty="0"/>
          </a:p>
        </p:txBody>
      </p:sp>
      <p:sp>
        <p:nvSpPr>
          <p:cNvPr id="17" name="Text 9"/>
          <p:cNvSpPr/>
          <p:nvPr/>
        </p:nvSpPr>
        <p:spPr>
          <a:xfrm>
            <a:off x="6054328" y="4859536"/>
            <a:ext cx="2500313" cy="320018"/>
          </a:xfrm>
          <a:prstGeom prst="rect">
            <a:avLst/>
          </a:prstGeom>
          <a:noFill/>
          <a:ln/>
        </p:spPr>
        <p:txBody>
          <a:bodyPr wrap="square" lIns="0" tIns="0" rIns="0" bIns="0" rtlCol="0" anchor="t">
            <a:spAutoFit/>
          </a:bodyPr>
          <a:lstStyle/>
          <a:p>
            <a:pPr algn="ctr" indent="0" marL="0">
              <a:lnSpc>
                <a:spcPts val="1300"/>
              </a:lnSpc>
              <a:buNone/>
            </a:pPr>
            <a:r>
              <a:rPr lang="en-US" sz="834" dirty="0">
                <a:solidFill>
                  <a:srgbClr val="2D3436"/>
                </a:solidFill>
              </a:rPr>
              <a:t>Es el primer paso para que tu nuevo sistema operativo se sienta parte de tu entorno.</a:t>
            </a:r>
            <a:endParaRPr lang="en-US" sz="83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6C5CE7"/>
                </a:solidFill>
              </a:rPr>
              <a:t>Elige la opción "Instalar junto a Windows"</a:t>
            </a:r>
            <a:endParaRPr lang="en-US" sz="2436" dirty="0"/>
          </a:p>
        </p:txBody>
      </p:sp>
      <p:sp>
        <p:nvSpPr>
          <p:cNvPr id="5" name="Shape 1"/>
          <p:cNvSpPr/>
          <p:nvPr/>
        </p:nvSpPr>
        <p:spPr>
          <a:xfrm>
            <a:off x="571500" y="1466255"/>
            <a:ext cx="3571875" cy="1131196"/>
          </a:xfrm>
          <a:prstGeom prst="rect">
            <a:avLst/>
          </a:prstGeom>
          <a:solidFill>
            <a:srgbClr val="FD79A8"/>
          </a:solidFill>
          <a:ln/>
        </p:spPr>
      </p:sp>
      <p:pic>
        <p:nvPicPr>
          <p:cNvPr id="6" name="Image 1" descr="preencoded.png">    </p:cNvPr>
          <p:cNvPicPr>
            <a:picLocks noChangeAspect="1"/>
          </p:cNvPicPr>
          <p:nvPr/>
        </p:nvPicPr>
        <p:blipFill>
          <a:blip r:embed="rId2"/>
          <a:stretch>
            <a:fillRect/>
          </a:stretch>
        </p:blipFill>
        <p:spPr>
          <a:xfrm>
            <a:off x="750094" y="1641277"/>
            <a:ext cx="171450" cy="171450"/>
          </a:xfrm>
          <a:prstGeom prst="rect">
            <a:avLst/>
          </a:prstGeom>
        </p:spPr>
      </p:pic>
      <p:sp>
        <p:nvSpPr>
          <p:cNvPr id="7" name="Text 2"/>
          <p:cNvSpPr/>
          <p:nvPr/>
        </p:nvSpPr>
        <p:spPr>
          <a:xfrm>
            <a:off x="921544" y="1609130"/>
            <a:ext cx="1035397"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rPr>
              <a:t>¡ATENCIÓN!</a:t>
            </a:r>
            <a:endParaRPr lang="en-US" sz="1193" dirty="0"/>
          </a:p>
        </p:txBody>
      </p:sp>
      <p:sp>
        <p:nvSpPr>
          <p:cNvPr id="8" name="Text 3"/>
          <p:cNvSpPr/>
          <p:nvPr/>
        </p:nvSpPr>
        <p:spPr>
          <a:xfrm>
            <a:off x="750094" y="1914525"/>
            <a:ext cx="3214688" cy="682926"/>
          </a:xfrm>
          <a:prstGeom prst="rect">
            <a:avLst/>
          </a:prstGeom>
          <a:noFill/>
          <a:ln/>
        </p:spPr>
        <p:txBody>
          <a:bodyPr wrap="square" lIns="0" tIns="0" rIns="0" bIns="170053" rtlCol="0" anchor="t">
            <a:spAutoFit/>
          </a:bodyPr>
          <a:lstStyle/>
          <a:p>
            <a:pPr algn="l" indent="0" marL="0">
              <a:lnSpc>
                <a:spcPts val="1400"/>
              </a:lnSpc>
              <a:buNone/>
            </a:pPr>
            <a:r>
              <a:rPr lang="en-US" sz="942" dirty="0">
                <a:solidFill>
                  <a:srgbClr val="FFFFFF"/>
                </a:solidFill>
              </a:rPr>
              <a:t>Esta es la opción más segura para no perder tus datos. El instalador dividirá el espacio del disco de forma inteligente.</a:t>
            </a:r>
            <a:endParaRPr lang="en-US" sz="942" dirty="0"/>
          </a:p>
        </p:txBody>
      </p:sp>
      <p:pic>
        <p:nvPicPr>
          <p:cNvPr id="9" name="Image 2" descr="preencoded.png">    </p:cNvPr>
          <p:cNvPicPr>
            <a:picLocks noChangeAspect="1"/>
          </p:cNvPicPr>
          <p:nvPr/>
        </p:nvPicPr>
        <p:blipFill>
          <a:blip r:embed="rId3"/>
          <a:stretch>
            <a:fillRect/>
          </a:stretch>
        </p:blipFill>
        <p:spPr>
          <a:xfrm>
            <a:off x="571500" y="2970712"/>
            <a:ext cx="214313" cy="214313"/>
          </a:xfrm>
          <a:prstGeom prst="rect">
            <a:avLst/>
          </a:prstGeom>
        </p:spPr>
      </p:pic>
      <p:sp>
        <p:nvSpPr>
          <p:cNvPr id="10" name="Text 4"/>
          <p:cNvSpPr/>
          <p:nvPr/>
        </p:nvSpPr>
        <p:spPr>
          <a:xfrm>
            <a:off x="928688" y="2883201"/>
            <a:ext cx="3214688" cy="389334"/>
          </a:xfrm>
          <a:prstGeom prst="rect">
            <a:avLst/>
          </a:prstGeom>
          <a:noFill/>
          <a:ln/>
        </p:spPr>
        <p:txBody>
          <a:bodyPr wrap="square" lIns="0" tIns="0" rIns="0" bIns="0" rtlCol="0" anchor="t">
            <a:spAutoFit/>
          </a:bodyPr>
          <a:lstStyle/>
          <a:p>
            <a:pPr algn="l" indent="0" marL="0">
              <a:lnSpc>
                <a:spcPts val="1400"/>
              </a:lnSpc>
              <a:buNone/>
            </a:pPr>
            <a:r>
              <a:rPr lang="en-US" sz="987" b="1" dirty="0">
                <a:solidFill>
                  <a:srgbClr val="2D3436"/>
                </a:solidFill>
              </a:rPr>
              <a:t>Tus archivos de Windows se mantienen intactos.</a:t>
            </a:r>
            <a:endParaRPr lang="en-US" sz="987" dirty="0"/>
          </a:p>
        </p:txBody>
      </p:sp>
      <p:pic>
        <p:nvPicPr>
          <p:cNvPr id="11" name="Image 3" descr="preencoded.png">    </p:cNvPr>
          <p:cNvPicPr>
            <a:picLocks noChangeAspect="1"/>
          </p:cNvPicPr>
          <p:nvPr/>
        </p:nvPicPr>
        <p:blipFill>
          <a:blip r:embed="rId4"/>
          <a:stretch>
            <a:fillRect/>
          </a:stretch>
        </p:blipFill>
        <p:spPr>
          <a:xfrm>
            <a:off x="571500" y="3645796"/>
            <a:ext cx="214313" cy="214313"/>
          </a:xfrm>
          <a:prstGeom prst="rect">
            <a:avLst/>
          </a:prstGeom>
        </p:spPr>
      </p:pic>
      <p:sp>
        <p:nvSpPr>
          <p:cNvPr id="12" name="Text 5"/>
          <p:cNvSpPr/>
          <p:nvPr/>
        </p:nvSpPr>
        <p:spPr>
          <a:xfrm>
            <a:off x="928688" y="3558285"/>
            <a:ext cx="3214688" cy="389334"/>
          </a:xfrm>
          <a:prstGeom prst="rect">
            <a:avLst/>
          </a:prstGeom>
          <a:noFill/>
          <a:ln/>
        </p:spPr>
        <p:txBody>
          <a:bodyPr wrap="square" lIns="0" tIns="0" rIns="0" bIns="0" rtlCol="0" anchor="t">
            <a:spAutoFit/>
          </a:bodyPr>
          <a:lstStyle/>
          <a:p>
            <a:pPr algn="l" indent="0" marL="0">
              <a:lnSpc>
                <a:spcPts val="1400"/>
              </a:lnSpc>
              <a:buNone/>
            </a:pPr>
            <a:r>
              <a:rPr lang="en-US" sz="987" b="1" dirty="0">
                <a:solidFill>
                  <a:srgbClr val="2D3436"/>
                </a:solidFill>
              </a:rPr>
              <a:t>Evita "Borrar disco" a menos que quieras borrar todo.</a:t>
            </a:r>
            <a:endParaRPr lang="en-US" sz="987" dirty="0"/>
          </a:p>
        </p:txBody>
      </p:sp>
      <p:pic>
        <p:nvPicPr>
          <p:cNvPr id="13" name="Image 4" descr="preencoded.png">    </p:cNvPr>
          <p:cNvPicPr>
            <a:picLocks noChangeAspect="1"/>
          </p:cNvPicPr>
          <p:nvPr/>
        </p:nvPicPr>
        <p:blipFill>
          <a:blip r:embed="rId5"/>
          <a:stretch>
            <a:fillRect/>
          </a:stretch>
        </p:blipFill>
        <p:spPr>
          <a:xfrm rot="120000">
            <a:off x="4536281" y="1323380"/>
            <a:ext cx="3929063" cy="2500312"/>
          </a:xfrm>
          <a:prstGeom prst="rect">
            <a:avLst/>
          </a:prstGeom>
        </p:spPr>
      </p:pic>
      <p:sp>
        <p:nvSpPr>
          <p:cNvPr id="14" name="Text 6"/>
          <p:cNvSpPr/>
          <p:nvPr/>
        </p:nvSpPr>
        <p:spPr>
          <a:xfrm>
            <a:off x="5054454" y="4038005"/>
            <a:ext cx="2892716" cy="155377"/>
          </a:xfrm>
          <a:prstGeom prst="rect">
            <a:avLst/>
          </a:prstGeom>
          <a:noFill/>
          <a:ln/>
        </p:spPr>
        <p:txBody>
          <a:bodyPr wrap="none" lIns="0" tIns="0" rIns="0" bIns="0" rtlCol="0" anchor="t">
            <a:spAutoFit/>
          </a:bodyPr>
          <a:lstStyle/>
          <a:p>
            <a:pPr algn="l" indent="0" marL="0">
              <a:lnSpc>
                <a:spcPts val="1100"/>
              </a:lnSpc>
              <a:buNone/>
            </a:pPr>
            <a:r>
              <a:rPr lang="en-US" sz="834" i="1" dirty="0">
                <a:solidFill>
                  <a:srgbClr val="636E72"/>
                </a:solidFill>
              </a:rPr>
              <a:t>Ejemplo de la pantalla de selección de tipo de instalación</a:t>
            </a:r>
            <a:endParaRPr lang="en-US" sz="83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932259"/>
          </a:xfrm>
          <a:prstGeom prst="rect">
            <a:avLst/>
          </a:prstGeom>
          <a:noFill/>
          <a:ln/>
        </p:spPr>
        <p:txBody>
          <a:bodyPr wrap="square" lIns="0" tIns="0" rIns="0" bIns="0" rtlCol="0" anchor="t">
            <a:spAutoFit/>
          </a:bodyPr>
          <a:lstStyle/>
          <a:p>
            <a:pPr algn="l" indent="0" marL="0">
              <a:lnSpc>
                <a:spcPts val="3200"/>
              </a:lnSpc>
              <a:buNone/>
            </a:pPr>
            <a:r>
              <a:rPr lang="en-US" sz="2436" b="1" dirty="0">
                <a:solidFill>
                  <a:srgbClr val="6C5CE7"/>
                </a:solidFill>
              </a:rPr>
              <a:t>Crea tu usuario y una contraseña de súper-poderes</a:t>
            </a:r>
            <a:endParaRPr lang="en-US" sz="2436" dirty="0"/>
          </a:p>
        </p:txBody>
      </p:sp>
      <p:sp>
        <p:nvSpPr>
          <p:cNvPr id="5" name="Shape 1"/>
          <p:cNvSpPr/>
          <p:nvPr/>
        </p:nvSpPr>
        <p:spPr>
          <a:xfrm>
            <a:off x="571500" y="2003822"/>
            <a:ext cx="428625" cy="428625"/>
          </a:xfrm>
          <a:prstGeom prst="rect">
            <a:avLst/>
          </a:prstGeom>
          <a:solidFill>
            <a:srgbClr val="FD79A8"/>
          </a:solidFill>
          <a:ln/>
        </p:spPr>
      </p:sp>
      <p:pic>
        <p:nvPicPr>
          <p:cNvPr id="6" name="Image 1" descr="preencoded.png">    </p:cNvPr>
          <p:cNvPicPr>
            <a:picLocks noChangeAspect="1"/>
          </p:cNvPicPr>
          <p:nvPr/>
        </p:nvPicPr>
        <p:blipFill>
          <a:blip r:embed="rId2"/>
          <a:stretch>
            <a:fillRect/>
          </a:stretch>
        </p:blipFill>
        <p:spPr>
          <a:xfrm>
            <a:off x="710803" y="2132409"/>
            <a:ext cx="150019" cy="171450"/>
          </a:xfrm>
          <a:prstGeom prst="rect">
            <a:avLst/>
          </a:prstGeom>
        </p:spPr>
      </p:pic>
      <p:sp>
        <p:nvSpPr>
          <p:cNvPr id="7" name="Text 2"/>
          <p:cNvSpPr/>
          <p:nvPr/>
        </p:nvSpPr>
        <p:spPr>
          <a:xfrm>
            <a:off x="1143000" y="2003822"/>
            <a:ext cx="3357563"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2D3436"/>
                </a:solidFill>
              </a:rPr>
              <a:t>Tu Identidad Digital</a:t>
            </a:r>
            <a:endParaRPr lang="en-US" sz="1193" dirty="0"/>
          </a:p>
        </p:txBody>
      </p:sp>
      <p:sp>
        <p:nvSpPr>
          <p:cNvPr id="8" name="Text 3"/>
          <p:cNvSpPr/>
          <p:nvPr/>
        </p:nvSpPr>
        <p:spPr>
          <a:xfrm>
            <a:off x="1143000" y="2309217"/>
            <a:ext cx="3357563" cy="360034"/>
          </a:xfrm>
          <a:prstGeom prst="rect">
            <a:avLst/>
          </a:prstGeom>
          <a:noFill/>
          <a:ln/>
        </p:spPr>
        <p:txBody>
          <a:bodyPr wrap="square" lIns="0" tIns="0" rIns="0" bIns="0" rtlCol="0" anchor="t">
            <a:spAutoFit/>
          </a:bodyPr>
          <a:lstStyle/>
          <a:p>
            <a:pPr algn="l" indent="0" marL="0">
              <a:lnSpc>
                <a:spcPts val="1400"/>
              </a:lnSpc>
              <a:buNone/>
            </a:pPr>
            <a:r>
              <a:rPr lang="en-US" sz="942" dirty="0">
                <a:solidFill>
                  <a:srgbClr val="2D3436"/>
                </a:solidFill>
              </a:rPr>
              <a:t>Elige un nombre de usuario que te guste y sea fácil de recordar. ¡Será tu nombre en el mundo Linux!</a:t>
            </a:r>
            <a:endParaRPr lang="en-US" sz="942" dirty="0"/>
          </a:p>
        </p:txBody>
      </p:sp>
      <p:sp>
        <p:nvSpPr>
          <p:cNvPr id="9" name="Shape 4"/>
          <p:cNvSpPr/>
          <p:nvPr/>
        </p:nvSpPr>
        <p:spPr>
          <a:xfrm>
            <a:off x="571500" y="2883564"/>
            <a:ext cx="428625" cy="428625"/>
          </a:xfrm>
          <a:prstGeom prst="rect">
            <a:avLst/>
          </a:prstGeom>
          <a:solidFill>
            <a:srgbClr val="FD79A8"/>
          </a:solidFill>
          <a:ln/>
        </p:spPr>
      </p:sp>
      <p:pic>
        <p:nvPicPr>
          <p:cNvPr id="10" name="Image 2" descr="preencoded.png">    </p:cNvPr>
          <p:cNvPicPr>
            <a:picLocks noChangeAspect="1"/>
          </p:cNvPicPr>
          <p:nvPr/>
        </p:nvPicPr>
        <p:blipFill>
          <a:blip r:embed="rId3"/>
          <a:stretch>
            <a:fillRect/>
          </a:stretch>
        </p:blipFill>
        <p:spPr>
          <a:xfrm>
            <a:off x="710803" y="3012151"/>
            <a:ext cx="150019" cy="171450"/>
          </a:xfrm>
          <a:prstGeom prst="rect">
            <a:avLst/>
          </a:prstGeom>
        </p:spPr>
      </p:pic>
      <p:sp>
        <p:nvSpPr>
          <p:cNvPr id="11" name="Text 5"/>
          <p:cNvSpPr/>
          <p:nvPr/>
        </p:nvSpPr>
        <p:spPr>
          <a:xfrm>
            <a:off x="1143000" y="2883564"/>
            <a:ext cx="3357563"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2D3436"/>
                </a:solidFill>
              </a:rPr>
              <a:t>Contraseña Segura</a:t>
            </a:r>
            <a:endParaRPr lang="en-US" sz="1193" dirty="0"/>
          </a:p>
        </p:txBody>
      </p:sp>
      <p:sp>
        <p:nvSpPr>
          <p:cNvPr id="12" name="Text 6"/>
          <p:cNvSpPr/>
          <p:nvPr/>
        </p:nvSpPr>
        <p:spPr>
          <a:xfrm>
            <a:off x="1143000" y="3188959"/>
            <a:ext cx="3357563" cy="360034"/>
          </a:xfrm>
          <a:prstGeom prst="rect">
            <a:avLst/>
          </a:prstGeom>
          <a:noFill/>
          <a:ln/>
        </p:spPr>
        <p:txBody>
          <a:bodyPr wrap="square" lIns="0" tIns="0" rIns="0" bIns="0" rtlCol="0" anchor="t">
            <a:spAutoFit/>
          </a:bodyPr>
          <a:lstStyle/>
          <a:p>
            <a:pPr algn="l" indent="0" marL="0">
              <a:lnSpc>
                <a:spcPts val="1400"/>
              </a:lnSpc>
              <a:buNone/>
            </a:pPr>
            <a:r>
              <a:rPr lang="en-US" sz="942" dirty="0">
                <a:solidFill>
                  <a:srgbClr val="2D3436"/>
                </a:solidFill>
              </a:rPr>
              <a:t>Esta será tu llave maestra. La necesitarás para instalar programas y hacer cambios importantes en el sistema.</a:t>
            </a:r>
            <a:endParaRPr lang="en-US" sz="942" dirty="0"/>
          </a:p>
        </p:txBody>
      </p:sp>
      <p:sp>
        <p:nvSpPr>
          <p:cNvPr id="13" name="Shape 7"/>
          <p:cNvSpPr/>
          <p:nvPr/>
        </p:nvSpPr>
        <p:spPr>
          <a:xfrm>
            <a:off x="571500" y="3763305"/>
            <a:ext cx="428625" cy="428625"/>
          </a:xfrm>
          <a:prstGeom prst="rect">
            <a:avLst/>
          </a:prstGeom>
          <a:solidFill>
            <a:srgbClr val="FD79A8"/>
          </a:solidFill>
          <a:ln/>
        </p:spPr>
      </p:sp>
      <p:pic>
        <p:nvPicPr>
          <p:cNvPr id="14" name="Image 3" descr="preencoded.png">    </p:cNvPr>
          <p:cNvPicPr>
            <a:picLocks noChangeAspect="1"/>
          </p:cNvPicPr>
          <p:nvPr/>
        </p:nvPicPr>
        <p:blipFill>
          <a:blip r:embed="rId4"/>
          <a:stretch>
            <a:fillRect/>
          </a:stretch>
        </p:blipFill>
        <p:spPr>
          <a:xfrm>
            <a:off x="700088" y="3891893"/>
            <a:ext cx="171450" cy="171450"/>
          </a:xfrm>
          <a:prstGeom prst="rect">
            <a:avLst/>
          </a:prstGeom>
        </p:spPr>
      </p:pic>
      <p:sp>
        <p:nvSpPr>
          <p:cNvPr id="15" name="Text 8"/>
          <p:cNvSpPr/>
          <p:nvPr/>
        </p:nvSpPr>
        <p:spPr>
          <a:xfrm>
            <a:off x="1143000" y="3763305"/>
            <a:ext cx="3357563"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2D3436"/>
                </a:solidFill>
              </a:rPr>
              <a:t>Tú tienes el Control</a:t>
            </a:r>
            <a:endParaRPr lang="en-US" sz="1193" dirty="0"/>
          </a:p>
        </p:txBody>
      </p:sp>
      <p:sp>
        <p:nvSpPr>
          <p:cNvPr id="16" name="Text 9"/>
          <p:cNvSpPr/>
          <p:nvPr/>
        </p:nvSpPr>
        <p:spPr>
          <a:xfrm>
            <a:off x="1143000" y="4068700"/>
            <a:ext cx="3357563" cy="360034"/>
          </a:xfrm>
          <a:prstGeom prst="rect">
            <a:avLst/>
          </a:prstGeom>
          <a:noFill/>
          <a:ln/>
        </p:spPr>
        <p:txBody>
          <a:bodyPr wrap="square" lIns="0" tIns="0" rIns="0" bIns="0" rtlCol="0" anchor="t">
            <a:spAutoFit/>
          </a:bodyPr>
          <a:lstStyle/>
          <a:p>
            <a:pPr algn="l" indent="0" marL="0">
              <a:lnSpc>
                <a:spcPts val="1400"/>
              </a:lnSpc>
              <a:buNone/>
            </a:pPr>
            <a:r>
              <a:rPr lang="en-US" sz="942" dirty="0">
                <a:solidFill>
                  <a:srgbClr val="2D3436"/>
                </a:solidFill>
              </a:rPr>
              <a:t>En Linux, la seguridad es lo primero. Tu contraseña protege tu computadora de cambios no autorizados.</a:t>
            </a:r>
            <a:endParaRPr lang="en-US" sz="942" dirty="0"/>
          </a:p>
        </p:txBody>
      </p:sp>
      <p:pic>
        <p:nvPicPr>
          <p:cNvPr id="17" name="Image 4" descr="preencoded.png">    </p:cNvPr>
          <p:cNvPicPr>
            <a:picLocks noChangeAspect="1"/>
          </p:cNvPicPr>
          <p:nvPr/>
        </p:nvPicPr>
        <p:blipFill>
          <a:blip r:embed="rId5"/>
          <a:stretch>
            <a:fillRect/>
          </a:stretch>
        </p:blipFill>
        <p:spPr>
          <a:xfrm>
            <a:off x="5000625" y="1789509"/>
            <a:ext cx="3571875" cy="2857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932259"/>
          </a:xfrm>
          <a:prstGeom prst="rect">
            <a:avLst/>
          </a:prstGeom>
          <a:noFill/>
          <a:ln/>
        </p:spPr>
        <p:txBody>
          <a:bodyPr wrap="square" lIns="0" tIns="0" rIns="0" bIns="0" rtlCol="0" anchor="t">
            <a:spAutoFit/>
          </a:bodyPr>
          <a:lstStyle/>
          <a:p>
            <a:pPr algn="l" indent="0" marL="0">
              <a:lnSpc>
                <a:spcPts val="3200"/>
              </a:lnSpc>
              <a:buNone/>
            </a:pPr>
            <a:r>
              <a:rPr lang="en-US" sz="2436" b="1" dirty="0">
                <a:solidFill>
                  <a:srgbClr val="6C5CE7"/>
                </a:solidFill>
              </a:rPr>
              <a:t>Relájate mientras Linux se acomoda en su nuevo hogar</a:t>
            </a:r>
            <a:endParaRPr lang="en-US" sz="2436" dirty="0"/>
          </a:p>
        </p:txBody>
      </p:sp>
      <p:sp>
        <p:nvSpPr>
          <p:cNvPr id="5" name="Shape 1"/>
          <p:cNvSpPr/>
          <p:nvPr/>
        </p:nvSpPr>
        <p:spPr>
          <a:xfrm>
            <a:off x="571500" y="2003822"/>
            <a:ext cx="428625" cy="428625"/>
          </a:xfrm>
          <a:prstGeom prst="rect">
            <a:avLst/>
          </a:prstGeom>
          <a:solidFill>
            <a:srgbClr val="00B894"/>
          </a:solidFill>
          <a:ln/>
        </p:spPr>
      </p:sp>
      <p:pic>
        <p:nvPicPr>
          <p:cNvPr id="6" name="Image 1" descr="preencoded.png">    </p:cNvPr>
          <p:cNvPicPr>
            <a:picLocks noChangeAspect="1"/>
          </p:cNvPicPr>
          <p:nvPr/>
        </p:nvPicPr>
        <p:blipFill>
          <a:blip r:embed="rId2"/>
          <a:stretch>
            <a:fillRect/>
          </a:stretch>
        </p:blipFill>
        <p:spPr>
          <a:xfrm>
            <a:off x="700088" y="2132409"/>
            <a:ext cx="171450" cy="171450"/>
          </a:xfrm>
          <a:prstGeom prst="rect">
            <a:avLst/>
          </a:prstGeom>
        </p:spPr>
      </p:pic>
      <p:sp>
        <p:nvSpPr>
          <p:cNvPr id="7" name="Text 2"/>
          <p:cNvSpPr/>
          <p:nvPr/>
        </p:nvSpPr>
        <p:spPr>
          <a:xfrm>
            <a:off x="1143000" y="2003822"/>
            <a:ext cx="3357563"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2D3436"/>
                </a:solidFill>
              </a:rPr>
              <a:t>Copia de Archivos</a:t>
            </a:r>
            <a:endParaRPr lang="en-US" sz="1193" dirty="0"/>
          </a:p>
        </p:txBody>
      </p:sp>
      <p:sp>
        <p:nvSpPr>
          <p:cNvPr id="8" name="Text 3"/>
          <p:cNvSpPr/>
          <p:nvPr/>
        </p:nvSpPr>
        <p:spPr>
          <a:xfrm>
            <a:off x="1143000" y="2309217"/>
            <a:ext cx="3357563" cy="360034"/>
          </a:xfrm>
          <a:prstGeom prst="rect">
            <a:avLst/>
          </a:prstGeom>
          <a:noFill/>
          <a:ln/>
        </p:spPr>
        <p:txBody>
          <a:bodyPr wrap="square" lIns="0" tIns="0" rIns="0" bIns="0" rtlCol="0" anchor="t">
            <a:spAutoFit/>
          </a:bodyPr>
          <a:lstStyle/>
          <a:p>
            <a:pPr algn="l" indent="0" marL="0">
              <a:lnSpc>
                <a:spcPts val="1400"/>
              </a:lnSpc>
              <a:buNone/>
            </a:pPr>
            <a:r>
              <a:rPr lang="en-US" sz="942" dirty="0">
                <a:solidFill>
                  <a:srgbClr val="2D3436"/>
                </a:solidFill>
              </a:rPr>
              <a:t>El sistema está copiando todos los archivos necesarios a tu disco duro de forma automática.</a:t>
            </a:r>
            <a:endParaRPr lang="en-US" sz="942" dirty="0"/>
          </a:p>
        </p:txBody>
      </p:sp>
      <p:sp>
        <p:nvSpPr>
          <p:cNvPr id="9" name="Shape 4"/>
          <p:cNvSpPr/>
          <p:nvPr/>
        </p:nvSpPr>
        <p:spPr>
          <a:xfrm>
            <a:off x="571500" y="2883564"/>
            <a:ext cx="428625" cy="428625"/>
          </a:xfrm>
          <a:prstGeom prst="rect">
            <a:avLst/>
          </a:prstGeom>
          <a:solidFill>
            <a:srgbClr val="00B894"/>
          </a:solidFill>
          <a:ln/>
        </p:spPr>
      </p:sp>
      <p:pic>
        <p:nvPicPr>
          <p:cNvPr id="10" name="Image 2" descr="preencoded.png">    </p:cNvPr>
          <p:cNvPicPr>
            <a:picLocks noChangeAspect="1"/>
          </p:cNvPicPr>
          <p:nvPr/>
        </p:nvPicPr>
        <p:blipFill>
          <a:blip r:embed="rId3"/>
          <a:stretch>
            <a:fillRect/>
          </a:stretch>
        </p:blipFill>
        <p:spPr>
          <a:xfrm>
            <a:off x="678656" y="3012151"/>
            <a:ext cx="214313" cy="171450"/>
          </a:xfrm>
          <a:prstGeom prst="rect">
            <a:avLst/>
          </a:prstGeom>
        </p:spPr>
      </p:pic>
      <p:sp>
        <p:nvSpPr>
          <p:cNvPr id="11" name="Text 5"/>
          <p:cNvSpPr/>
          <p:nvPr/>
        </p:nvSpPr>
        <p:spPr>
          <a:xfrm>
            <a:off x="1143000" y="2883564"/>
            <a:ext cx="3357563"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2D3436"/>
                </a:solidFill>
              </a:rPr>
              <a:t>Conoce tu Sistema</a:t>
            </a:r>
            <a:endParaRPr lang="en-US" sz="1193" dirty="0"/>
          </a:p>
        </p:txBody>
      </p:sp>
      <p:sp>
        <p:nvSpPr>
          <p:cNvPr id="12" name="Text 6"/>
          <p:cNvSpPr/>
          <p:nvPr/>
        </p:nvSpPr>
        <p:spPr>
          <a:xfrm>
            <a:off x="1143000" y="3188959"/>
            <a:ext cx="3357563" cy="360034"/>
          </a:xfrm>
          <a:prstGeom prst="rect">
            <a:avLst/>
          </a:prstGeom>
          <a:noFill/>
          <a:ln/>
        </p:spPr>
        <p:txBody>
          <a:bodyPr wrap="square" lIns="0" tIns="0" rIns="0" bIns="0" rtlCol="0" anchor="t">
            <a:spAutoFit/>
          </a:bodyPr>
          <a:lstStyle/>
          <a:p>
            <a:pPr algn="l" indent="0" marL="0">
              <a:lnSpc>
                <a:spcPts val="1400"/>
              </a:lnSpc>
              <a:buNone/>
            </a:pPr>
            <a:r>
              <a:rPr lang="en-US" sz="942" dirty="0">
                <a:solidFill>
                  <a:srgbClr val="2D3436"/>
                </a:solidFill>
              </a:rPr>
              <a:t>Puedes ver una presentación de las funciones geniales que te esperan mientras esperas.</a:t>
            </a:r>
            <a:endParaRPr lang="en-US" sz="942" dirty="0"/>
          </a:p>
        </p:txBody>
      </p:sp>
      <p:sp>
        <p:nvSpPr>
          <p:cNvPr id="13" name="Shape 7"/>
          <p:cNvSpPr/>
          <p:nvPr/>
        </p:nvSpPr>
        <p:spPr>
          <a:xfrm>
            <a:off x="571500" y="3763305"/>
            <a:ext cx="428625" cy="428625"/>
          </a:xfrm>
          <a:prstGeom prst="rect">
            <a:avLst/>
          </a:prstGeom>
          <a:solidFill>
            <a:srgbClr val="00B894"/>
          </a:solidFill>
          <a:ln/>
        </p:spPr>
      </p:sp>
      <p:pic>
        <p:nvPicPr>
          <p:cNvPr id="14" name="Image 3" descr="preencoded.png">    </p:cNvPr>
          <p:cNvPicPr>
            <a:picLocks noChangeAspect="1"/>
          </p:cNvPicPr>
          <p:nvPr/>
        </p:nvPicPr>
        <p:blipFill>
          <a:blip r:embed="rId4"/>
          <a:stretch>
            <a:fillRect/>
          </a:stretch>
        </p:blipFill>
        <p:spPr>
          <a:xfrm>
            <a:off x="678656" y="3891893"/>
            <a:ext cx="214313" cy="171450"/>
          </a:xfrm>
          <a:prstGeom prst="rect">
            <a:avLst/>
          </a:prstGeom>
        </p:spPr>
      </p:pic>
      <p:sp>
        <p:nvSpPr>
          <p:cNvPr id="15" name="Text 8"/>
          <p:cNvSpPr/>
          <p:nvPr/>
        </p:nvSpPr>
        <p:spPr>
          <a:xfrm>
            <a:off x="1143000" y="3763305"/>
            <a:ext cx="3357563"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2D3436"/>
                </a:solidFill>
              </a:rPr>
              <a:t>¡Ya casi eres un experto!</a:t>
            </a:r>
            <a:endParaRPr lang="en-US" sz="1193" dirty="0"/>
          </a:p>
        </p:txBody>
      </p:sp>
      <p:sp>
        <p:nvSpPr>
          <p:cNvPr id="16" name="Text 9"/>
          <p:cNvSpPr/>
          <p:nvPr/>
        </p:nvSpPr>
        <p:spPr>
          <a:xfrm>
            <a:off x="1143000" y="4068700"/>
            <a:ext cx="3357563" cy="360034"/>
          </a:xfrm>
          <a:prstGeom prst="rect">
            <a:avLst/>
          </a:prstGeom>
          <a:noFill/>
          <a:ln/>
        </p:spPr>
        <p:txBody>
          <a:bodyPr wrap="square" lIns="0" tIns="0" rIns="0" bIns="0" rtlCol="0" anchor="t">
            <a:spAutoFit/>
          </a:bodyPr>
          <a:lstStyle/>
          <a:p>
            <a:pPr algn="l" indent="0" marL="0">
              <a:lnSpc>
                <a:spcPts val="1400"/>
              </a:lnSpc>
              <a:buNone/>
            </a:pPr>
            <a:r>
              <a:rPr lang="en-US" sz="942" dirty="0">
                <a:solidFill>
                  <a:srgbClr val="2D3436"/>
                </a:solidFill>
              </a:rPr>
              <a:t>Falta muy poco para que termines tu primera instalación profesional de un sistema operativo.</a:t>
            </a:r>
            <a:endParaRPr lang="en-US" sz="942" dirty="0"/>
          </a:p>
        </p:txBody>
      </p:sp>
      <p:pic>
        <p:nvPicPr>
          <p:cNvPr id="17" name="Image 4" descr="preencoded.png">    </p:cNvPr>
          <p:cNvPicPr>
            <a:picLocks noChangeAspect="1"/>
          </p:cNvPicPr>
          <p:nvPr/>
        </p:nvPicPr>
        <p:blipFill>
          <a:blip r:embed="rId5"/>
          <a:stretch>
            <a:fillRect/>
          </a:stretch>
        </p:blipFill>
        <p:spPr>
          <a:xfrm>
            <a:off x="5000625" y="1789509"/>
            <a:ext cx="3571875" cy="2857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571500"/>
            <a:ext cx="8001000" cy="932259"/>
          </a:xfrm>
          <a:prstGeom prst="rect">
            <a:avLst/>
          </a:prstGeom>
          <a:noFill/>
          <a:ln/>
        </p:spPr>
        <p:txBody>
          <a:bodyPr wrap="square" lIns="0" tIns="0" rIns="0" bIns="0" rtlCol="0" anchor="t">
            <a:spAutoFit/>
          </a:bodyPr>
          <a:lstStyle/>
          <a:p>
            <a:pPr algn="ctr" indent="0" marL="0">
              <a:lnSpc>
                <a:spcPts val="3200"/>
              </a:lnSpc>
              <a:buNone/>
            </a:pPr>
            <a:r>
              <a:rPr lang="en-US" sz="2436" b="1" dirty="0">
                <a:solidFill>
                  <a:srgbClr val="6C5CE7"/>
                </a:solidFill>
              </a:rPr>
              <a:t>Reinicia y elige tu aventura cada vez que enciendas la PC</a:t>
            </a:r>
            <a:endParaRPr lang="en-US" sz="2436" dirty="0"/>
          </a:p>
        </p:txBody>
      </p:sp>
      <p:sp>
        <p:nvSpPr>
          <p:cNvPr id="5" name="Shape 1"/>
          <p:cNvSpPr/>
          <p:nvPr/>
        </p:nvSpPr>
        <p:spPr>
          <a:xfrm>
            <a:off x="714375" y="2120103"/>
            <a:ext cx="3571875" cy="2482062"/>
          </a:xfrm>
          <a:prstGeom prst="rect">
            <a:avLst/>
          </a:prstGeom>
          <a:solidFill>
            <a:srgbClr val="FFFFFF"/>
          </a:solidFill>
          <a:ln/>
        </p:spPr>
      </p:sp>
      <p:sp>
        <p:nvSpPr>
          <p:cNvPr id="6" name="Shape 2"/>
          <p:cNvSpPr/>
          <p:nvPr/>
        </p:nvSpPr>
        <p:spPr>
          <a:xfrm>
            <a:off x="714375" y="2120103"/>
            <a:ext cx="3571875" cy="57150"/>
          </a:xfrm>
          <a:prstGeom prst="rect">
            <a:avLst/>
          </a:prstGeom>
          <a:solidFill>
            <a:srgbClr val="00B894"/>
          </a:solidFill>
          <a:ln/>
        </p:spPr>
      </p:sp>
      <p:sp>
        <p:nvSpPr>
          <p:cNvPr id="7" name="Text 3"/>
          <p:cNvSpPr/>
          <p:nvPr/>
        </p:nvSpPr>
        <p:spPr>
          <a:xfrm>
            <a:off x="928688" y="2362991"/>
            <a:ext cx="3143250" cy="27324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00B894"/>
                </a:solidFill>
              </a:rPr>
              <a:t>¡Misión Cumplida!</a:t>
            </a:r>
            <a:endParaRPr lang="en-US" sz="1397" dirty="0"/>
          </a:p>
        </p:txBody>
      </p:sp>
      <p:pic>
        <p:nvPicPr>
          <p:cNvPr id="8" name="Image 1" descr="preencoded.png">    </p:cNvPr>
          <p:cNvPicPr>
            <a:picLocks noChangeAspect="1"/>
          </p:cNvPicPr>
          <p:nvPr/>
        </p:nvPicPr>
        <p:blipFill>
          <a:blip r:embed="rId2"/>
          <a:stretch>
            <a:fillRect/>
          </a:stretch>
        </p:blipFill>
        <p:spPr>
          <a:xfrm>
            <a:off x="928688" y="2873406"/>
            <a:ext cx="128588" cy="171450"/>
          </a:xfrm>
          <a:prstGeom prst="rect">
            <a:avLst/>
          </a:prstGeom>
        </p:spPr>
      </p:pic>
      <p:sp>
        <p:nvSpPr>
          <p:cNvPr id="9" name="Text 4"/>
          <p:cNvSpPr/>
          <p:nvPr/>
        </p:nvSpPr>
        <p:spPr>
          <a:xfrm>
            <a:off x="1164431" y="2779114"/>
            <a:ext cx="2907506" cy="360034"/>
          </a:xfrm>
          <a:prstGeom prst="rect">
            <a:avLst/>
          </a:prstGeom>
          <a:noFill/>
          <a:ln/>
        </p:spPr>
        <p:txBody>
          <a:bodyPr wrap="square" lIns="0" tIns="0" rIns="0" bIns="0" rtlCol="0" anchor="t">
            <a:spAutoFit/>
          </a:bodyPr>
          <a:lstStyle/>
          <a:p>
            <a:pPr algn="l" indent="0" marL="0">
              <a:lnSpc>
                <a:spcPts val="1400"/>
              </a:lnSpc>
              <a:buNone/>
            </a:pPr>
            <a:r>
              <a:rPr lang="en-US" sz="942" dirty="0">
                <a:solidFill>
                  <a:srgbClr val="2D3436"/>
                </a:solidFill>
              </a:rPr>
              <a:t>Retira la memoria USB cuando el sistema te lo pida y presiona Enter.</a:t>
            </a:r>
            <a:endParaRPr lang="en-US" sz="942" dirty="0"/>
          </a:p>
        </p:txBody>
      </p:sp>
      <p:pic>
        <p:nvPicPr>
          <p:cNvPr id="10" name="Image 2" descr="preencoded.png">    </p:cNvPr>
          <p:cNvPicPr>
            <a:picLocks noChangeAspect="1"/>
          </p:cNvPicPr>
          <p:nvPr/>
        </p:nvPicPr>
        <p:blipFill>
          <a:blip r:embed="rId3"/>
          <a:stretch>
            <a:fillRect/>
          </a:stretch>
        </p:blipFill>
        <p:spPr>
          <a:xfrm>
            <a:off x="928688" y="3519190"/>
            <a:ext cx="171450" cy="171450"/>
          </a:xfrm>
          <a:prstGeom prst="rect">
            <a:avLst/>
          </a:prstGeom>
        </p:spPr>
      </p:pic>
      <p:sp>
        <p:nvSpPr>
          <p:cNvPr id="11" name="Text 5"/>
          <p:cNvSpPr/>
          <p:nvPr/>
        </p:nvSpPr>
        <p:spPr>
          <a:xfrm>
            <a:off x="1207294" y="3424898"/>
            <a:ext cx="2864644" cy="360034"/>
          </a:xfrm>
          <a:prstGeom prst="rect">
            <a:avLst/>
          </a:prstGeom>
          <a:noFill/>
          <a:ln/>
        </p:spPr>
        <p:txBody>
          <a:bodyPr wrap="square" lIns="0" tIns="0" rIns="0" bIns="0" rtlCol="0" anchor="t">
            <a:spAutoFit/>
          </a:bodyPr>
          <a:lstStyle/>
          <a:p>
            <a:pPr algn="l" indent="0" marL="0">
              <a:lnSpc>
                <a:spcPts val="1400"/>
              </a:lnSpc>
              <a:buNone/>
            </a:pPr>
            <a:r>
              <a:rPr lang="en-US" sz="942" dirty="0">
                <a:solidFill>
                  <a:srgbClr val="2D3436"/>
                </a:solidFill>
              </a:rPr>
              <a:t>Al encender, verás un menú para elegir entre Windows o Linux.</a:t>
            </a:r>
            <a:endParaRPr lang="en-US" sz="942" dirty="0"/>
          </a:p>
        </p:txBody>
      </p:sp>
      <p:pic>
        <p:nvPicPr>
          <p:cNvPr id="12" name="Image 3" descr="preencoded.png">    </p:cNvPr>
          <p:cNvPicPr>
            <a:picLocks noChangeAspect="1"/>
          </p:cNvPicPr>
          <p:nvPr/>
        </p:nvPicPr>
        <p:blipFill>
          <a:blip r:embed="rId4"/>
          <a:stretch>
            <a:fillRect/>
          </a:stretch>
        </p:blipFill>
        <p:spPr>
          <a:xfrm>
            <a:off x="928688" y="4164974"/>
            <a:ext cx="171450" cy="171450"/>
          </a:xfrm>
          <a:prstGeom prst="rect">
            <a:avLst/>
          </a:prstGeom>
        </p:spPr>
      </p:pic>
      <p:sp>
        <p:nvSpPr>
          <p:cNvPr id="13" name="Text 6"/>
          <p:cNvSpPr/>
          <p:nvPr/>
        </p:nvSpPr>
        <p:spPr>
          <a:xfrm>
            <a:off x="1207294" y="4070682"/>
            <a:ext cx="2864644" cy="360034"/>
          </a:xfrm>
          <a:prstGeom prst="rect">
            <a:avLst/>
          </a:prstGeom>
          <a:noFill/>
          <a:ln/>
        </p:spPr>
        <p:txBody>
          <a:bodyPr wrap="square" lIns="0" tIns="0" rIns="0" bIns="0" rtlCol="0" anchor="t">
            <a:spAutoFit/>
          </a:bodyPr>
          <a:lstStyle/>
          <a:p>
            <a:pPr algn="l" indent="0" marL="0">
              <a:lnSpc>
                <a:spcPts val="1400"/>
              </a:lnSpc>
              <a:buNone/>
            </a:pPr>
            <a:r>
              <a:rPr lang="en-US" sz="942" dirty="0">
                <a:solidFill>
                  <a:srgbClr val="2D3436"/>
                </a:solidFill>
              </a:rPr>
              <a:t>¡Bienvenido a la comunidad global de Software Libre!</a:t>
            </a:r>
            <a:endParaRPr lang="en-US" sz="942" dirty="0"/>
          </a:p>
        </p:txBody>
      </p:sp>
      <p:pic>
        <p:nvPicPr>
          <p:cNvPr id="14" name="Image 4" descr="preencoded.png">    </p:cNvPr>
          <p:cNvPicPr>
            <a:picLocks noChangeAspect="1"/>
          </p:cNvPicPr>
          <p:nvPr/>
        </p:nvPicPr>
        <p:blipFill>
          <a:blip r:embed="rId5"/>
          <a:stretch>
            <a:fillRect/>
          </a:stretch>
        </p:blipFill>
        <p:spPr>
          <a:xfrm>
            <a:off x="4857750" y="2003822"/>
            <a:ext cx="3571875" cy="27146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2026-01-04T21:21:13Z</dcterms:created>
  <dcterms:modified xsi:type="dcterms:W3CDTF">2026-01-04T21:21:13Z</dcterms:modified>
</cp:coreProperties>
</file>